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4"/>
  </p:notesMasterIdLst>
  <p:sldIdLst>
    <p:sldId id="261" r:id="rId2"/>
    <p:sldId id="262" r:id="rId3"/>
    <p:sldId id="275" r:id="rId4"/>
    <p:sldId id="270" r:id="rId5"/>
    <p:sldId id="264" r:id="rId6"/>
    <p:sldId id="273" r:id="rId7"/>
    <p:sldId id="274" r:id="rId8"/>
    <p:sldId id="268" r:id="rId9"/>
    <p:sldId id="266" r:id="rId10"/>
    <p:sldId id="278" r:id="rId11"/>
    <p:sldId id="276" r:id="rId12"/>
    <p:sldId id="277" r:id="rId1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D8F0"/>
    <a:srgbClr val="8F3898"/>
    <a:srgbClr val="3651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60"/>
  </p:normalViewPr>
  <p:slideViewPr>
    <p:cSldViewPr snapToGrid="0">
      <p:cViewPr>
        <p:scale>
          <a:sx n="82" d="100"/>
          <a:sy n="82" d="100"/>
        </p:scale>
        <p:origin x="47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Top 10 Features by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 Features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EXT_SOURCE_MEAN</c:v>
                </c:pt>
                <c:pt idx="1">
                  <c:v>EXT_SOURCE_WEIGHTED</c:v>
                </c:pt>
                <c:pt idx="2">
                  <c:v>EXT_SOURCE_PRODUCT</c:v>
                </c:pt>
                <c:pt idx="3">
                  <c:v>EXT_SOURCE_MAX</c:v>
                </c:pt>
                <c:pt idx="4">
                  <c:v>PAYMENT_X_EXT_SOURCE</c:v>
                </c:pt>
                <c:pt idx="5">
                  <c:v>CREDIT_INCOME_RATIO</c:v>
                </c:pt>
                <c:pt idx="6">
                  <c:v>BEHAVIORAL_CONSISTENCY</c:v>
                </c:pt>
                <c:pt idx="7">
                  <c:v>DAYS_EMPLOYED_RATIO</c:v>
                </c:pt>
                <c:pt idx="8">
                  <c:v>AMT_CREDIT_LOG</c:v>
                </c:pt>
                <c:pt idx="9">
                  <c:v>BUREAU_LATE_RATE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0.13100000000000001</c:v>
                </c:pt>
                <c:pt idx="1">
                  <c:v>5.0999999999999997E-2</c:v>
                </c:pt>
                <c:pt idx="2">
                  <c:v>0.02</c:v>
                </c:pt>
                <c:pt idx="3">
                  <c:v>1.4999999999999999E-2</c:v>
                </c:pt>
                <c:pt idx="4">
                  <c:v>1.2999999999999999E-2</c:v>
                </c:pt>
                <c:pt idx="5">
                  <c:v>1.0999999999999999E-2</c:v>
                </c:pt>
                <c:pt idx="6">
                  <c:v>8.9999999999999993E-3</c:v>
                </c:pt>
                <c:pt idx="7">
                  <c:v>8.9999999999999993E-3</c:v>
                </c:pt>
                <c:pt idx="8">
                  <c:v>8.0000000000000002E-3</c:v>
                </c:pt>
                <c:pt idx="9">
                  <c:v>7.0000000000000001E-3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AA-47E0-B09A-998DB187C3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13BBE-60E0-40E5-BD7D-BC1810F9943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FAD2E7-4889-437B-949D-A61E11428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79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a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" y="5583238"/>
            <a:ext cx="12170834" cy="128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0" y="0"/>
            <a:ext cx="12192000" cy="1752600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10001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1066800"/>
            <a:ext cx="10972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67301" y="6291263"/>
            <a:ext cx="46679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i="1" dirty="0">
                <a:latin typeface="+mn-lt"/>
                <a:ea typeface="+mn-ea"/>
              </a:rPr>
              <a:t>v 1.0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4"/>
            <a:ext cx="10972800" cy="4906963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1" descr="ban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568950"/>
            <a:ext cx="12189884" cy="128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0972800" cy="467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0" y="6213476"/>
            <a:ext cx="914400" cy="30480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eaLnBrk="1" hangingPunct="1"/>
            <a:fld id="{F58D6FC1-2522-4DB7-B0E2-DA501C2B1CB3}" type="slidenum">
              <a:rPr lang="en-US" altLang="en-US" sz="1600" b="1">
                <a:solidFill>
                  <a:schemeClr val="accent2"/>
                </a:solidFill>
                <a:latin typeface="Calibri" pitchFamily="34" charset="0"/>
                <a:cs typeface="Arial" charset="0"/>
              </a:rPr>
              <a:pPr algn="ctr" eaLnBrk="1" hangingPunct="1"/>
              <a:t>‹#›</a:t>
            </a:fld>
            <a:endParaRPr lang="en-US" altLang="en-US" b="1">
              <a:solidFill>
                <a:schemeClr val="accent2"/>
              </a:solidFill>
              <a:latin typeface="Calibri" pitchFamily="34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ransition>
    <p:wipe dir="d"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charset="0"/>
          <a:ea typeface="MS PGothic" pitchFamily="34" charset="-128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charset="0"/>
          <a:ea typeface="MS PGothic" pitchFamily="34" charset="-128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charset="0"/>
          <a:ea typeface="MS PGothic" pitchFamily="34" charset="-128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charset="0"/>
          <a:ea typeface="MS PGothic" pitchFamily="34" charset="-128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000FF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1B57B5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8538-A683-1BC5-2A27-84FE8CF92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1" y="137319"/>
            <a:ext cx="10972800" cy="79216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Google Shape;70;p2">
            <a:extLst>
              <a:ext uri="{FF2B5EF4-FFF2-40B4-BE49-F238E27FC236}">
                <a16:creationId xmlns:a16="http://schemas.microsoft.com/office/drawing/2014/main" id="{44559737-0FF3-7BF0-22B8-4BA1E119B1F1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DC630D9-500C-3E85-93FD-99DE9168042A}"/>
              </a:ext>
            </a:extLst>
          </p:cNvPr>
          <p:cNvSpPr txBox="1">
            <a:spLocks/>
          </p:cNvSpPr>
          <p:nvPr/>
        </p:nvSpPr>
        <p:spPr bwMode="auto">
          <a:xfrm>
            <a:off x="0" y="137319"/>
            <a:ext cx="1219200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1B57B5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1B57B5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1B57B5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1B57B5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1B57B5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r>
              <a:rPr lang="en-US" sz="2800" kern="0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Zenith Hackathon 5.0</a:t>
            </a:r>
            <a:endParaRPr lang="en-IN" sz="2800" kern="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47E25-4500-BEF5-C522-ED26DAE92524}"/>
              </a:ext>
            </a:extLst>
          </p:cNvPr>
          <p:cNvSpPr txBox="1"/>
          <p:nvPr/>
        </p:nvSpPr>
        <p:spPr>
          <a:xfrm>
            <a:off x="3905849" y="3286401"/>
            <a:ext cx="62356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	: TECH CRUSADERS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	: Nithilan S - 3122245002060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Muskan Kumari V - 3122245002059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Charumadhi M - 3122245002012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	: Information Technology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DB2A0-757B-8EC3-D54F-5186D70AC4F0}"/>
              </a:ext>
            </a:extLst>
          </p:cNvPr>
          <p:cNvSpPr txBox="1"/>
          <p:nvPr/>
        </p:nvSpPr>
        <p:spPr>
          <a:xfrm>
            <a:off x="609600" y="1894218"/>
            <a:ext cx="109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solidFill>
                  <a:srgbClr val="365199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AltScore</a:t>
            </a:r>
            <a:endParaRPr lang="en-US" sz="3000" b="1" dirty="0">
              <a:solidFill>
                <a:srgbClr val="365199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IN" sz="2000" i="1" dirty="0">
                <a:solidFill>
                  <a:srgbClr val="365199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Making </a:t>
            </a:r>
            <a:r>
              <a:rPr lang="en-IN" sz="2000" i="1" dirty="0">
                <a:solidFill>
                  <a:srgbClr val="365199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</a:t>
            </a:r>
            <a:r>
              <a:rPr lang="en-IN" sz="2000" i="1" dirty="0">
                <a:solidFill>
                  <a:srgbClr val="365199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redit Access Fair for everyone</a:t>
            </a:r>
          </a:p>
        </p:txBody>
      </p:sp>
    </p:spTree>
    <p:extLst>
      <p:ext uri="{BB962C8B-B14F-4D97-AF65-F5344CB8AC3E}">
        <p14:creationId xmlns:p14="http://schemas.microsoft.com/office/powerpoint/2010/main" val="2394261345"/>
      </p:ext>
    </p:extLst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4854-B61E-921D-4935-42AB502D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dirty="0"/>
              <a:t>Problem Statement – “</a:t>
            </a:r>
            <a:r>
              <a:rPr lang="en-US" sz="2500" i="1" dirty="0"/>
              <a:t>Why Traditional Credit Scoring Fails Millions”</a:t>
            </a:r>
            <a:endParaRPr lang="en-IN" sz="2500" i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8FA3D6-281A-53D7-9013-5107AA4E57ED}"/>
              </a:ext>
            </a:extLst>
          </p:cNvPr>
          <p:cNvSpPr/>
          <p:nvPr/>
        </p:nvSpPr>
        <p:spPr>
          <a:xfrm>
            <a:off x="977867" y="1236923"/>
            <a:ext cx="4113839" cy="1722428"/>
          </a:xfrm>
          <a:prstGeom prst="roundRect">
            <a:avLst/>
          </a:prstGeom>
          <a:solidFill>
            <a:schemeClr val="accent3">
              <a:lumMod val="75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2E745D-DB89-3D14-57CD-C722DB34FA77}"/>
              </a:ext>
            </a:extLst>
          </p:cNvPr>
          <p:cNvSpPr/>
          <p:nvPr/>
        </p:nvSpPr>
        <p:spPr>
          <a:xfrm>
            <a:off x="5954488" y="1172138"/>
            <a:ext cx="5452785" cy="4110156"/>
          </a:xfrm>
          <a:prstGeom prst="roundRect">
            <a:avLst/>
          </a:prstGeom>
          <a:solidFill>
            <a:schemeClr val="accent6">
              <a:lumMod val="20000"/>
              <a:lumOff val="8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412693-5CFC-628A-1D2E-AC7A62BDAE49}"/>
              </a:ext>
            </a:extLst>
          </p:cNvPr>
          <p:cNvSpPr txBox="1"/>
          <p:nvPr/>
        </p:nvSpPr>
        <p:spPr>
          <a:xfrm>
            <a:off x="1201106" y="1456335"/>
            <a:ext cx="40375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Problem (Review 1):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credit scoring excludes millions with no credit history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7ED1B-7233-E521-3887-E171C7D8D29C}"/>
              </a:ext>
            </a:extLst>
          </p:cNvPr>
          <p:cNvSpPr txBox="1"/>
          <p:nvPr/>
        </p:nvSpPr>
        <p:spPr>
          <a:xfrm>
            <a:off x="1051335" y="3564082"/>
            <a:ext cx="40748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Panel Feedback Incorporated: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 scope from "all underbanked" to specific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target user group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measurable business impact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1678A4-C879-BDBE-39B2-4494A07054DB}"/>
              </a:ext>
            </a:extLst>
          </p:cNvPr>
          <p:cNvSpPr txBox="1"/>
          <p:nvPr/>
        </p:nvSpPr>
        <p:spPr>
          <a:xfrm>
            <a:off x="6327813" y="1345991"/>
            <a:ext cx="514845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 Group (LOCKED):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(Young adults 25-35 years)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prior loan/credit card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income (employment verified)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data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2,470 applicants (0.8% of dataset)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rate: 7.25% (vs 8.07% overall)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(Limited data segment)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41,550 applicants (13.5% of dataset)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alternative data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Rejected by traditional banks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EB3F337-7988-29F0-A58E-5998C75A5094}"/>
              </a:ext>
            </a:extLst>
          </p:cNvPr>
          <p:cNvSpPr/>
          <p:nvPr/>
        </p:nvSpPr>
        <p:spPr>
          <a:xfrm>
            <a:off x="977866" y="3323198"/>
            <a:ext cx="4113839" cy="1959096"/>
          </a:xfrm>
          <a:prstGeom prst="roundRect">
            <a:avLst/>
          </a:prstGeom>
          <a:solidFill>
            <a:schemeClr val="accent3">
              <a:lumMod val="75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12CB0F-8BB9-776A-4379-A17A54A43672}"/>
              </a:ext>
            </a:extLst>
          </p:cNvPr>
          <p:cNvSpPr txBox="1"/>
          <p:nvPr/>
        </p:nvSpPr>
        <p:spPr>
          <a:xfrm>
            <a:off x="1215711" y="5685862"/>
            <a:ext cx="80459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segment: Excluded despite LOWER default risk than average</a:t>
            </a:r>
          </a:p>
        </p:txBody>
      </p:sp>
    </p:spTree>
    <p:extLst>
      <p:ext uri="{BB962C8B-B14F-4D97-AF65-F5344CB8AC3E}">
        <p14:creationId xmlns:p14="http://schemas.microsoft.com/office/powerpoint/2010/main" val="1377160055"/>
      </p:ext>
    </p:extLst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E9DEC-2264-B595-B01F-C10B0191A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6" y="254118"/>
            <a:ext cx="10972800" cy="792162"/>
          </a:xfrm>
        </p:spPr>
        <p:txBody>
          <a:bodyPr/>
          <a:lstStyle/>
          <a:p>
            <a:r>
              <a:rPr lang="en-US" sz="2800" dirty="0"/>
              <a:t>Our Behavioral-Based Solution</a:t>
            </a:r>
            <a:endParaRPr lang="en-IN" sz="25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E018B-A83C-64EF-5D8F-91D4DF05F9DC}"/>
              </a:ext>
            </a:extLst>
          </p:cNvPr>
          <p:cNvSpPr txBox="1"/>
          <p:nvPr/>
        </p:nvSpPr>
        <p:spPr>
          <a:xfrm>
            <a:off x="1114719" y="1337465"/>
            <a:ext cx="36516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Refinement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Narrowed dataset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307,511 verified loan 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noisy / edge-case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Locked target user group clearly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2F12BC-BEB0-7A25-D8F8-A1C673D13CBE}"/>
              </a:ext>
            </a:extLst>
          </p:cNvPr>
          <p:cNvSpPr txBox="1"/>
          <p:nvPr/>
        </p:nvSpPr>
        <p:spPr>
          <a:xfrm>
            <a:off x="1114719" y="3855846"/>
            <a:ext cx="40915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Maturity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4 model families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as champion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threshold tuning for better risk detection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8D17ED2F-FCCC-F6ED-C098-D038D15F17F0}"/>
              </a:ext>
            </a:extLst>
          </p:cNvPr>
          <p:cNvSpPr/>
          <p:nvPr/>
        </p:nvSpPr>
        <p:spPr>
          <a:xfrm>
            <a:off x="1086620" y="1337464"/>
            <a:ext cx="4119692" cy="2148322"/>
          </a:xfrm>
          <a:prstGeom prst="flowChartProcess">
            <a:avLst/>
          </a:prstGeom>
          <a:solidFill>
            <a:srgbClr val="B9D0F1">
              <a:alpha val="14902"/>
            </a:srgb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A0B370-4D24-4DCE-EC6D-027D3535C18D}"/>
              </a:ext>
            </a:extLst>
          </p:cNvPr>
          <p:cNvSpPr txBox="1"/>
          <p:nvPr/>
        </p:nvSpPr>
        <p:spPr>
          <a:xfrm>
            <a:off x="6575181" y="1859339"/>
            <a:ext cx="44277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build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behavioural-based credit scoring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using: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behaviour &amp; financial discipline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behavioural data (POS, instalments, bureau signals)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with 239 engineered features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Enable fair credit access while REDUCING default risk by 21%</a:t>
            </a:r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A2942714-9BA6-8527-9933-EB75729C7C82}"/>
              </a:ext>
            </a:extLst>
          </p:cNvPr>
          <p:cNvSpPr/>
          <p:nvPr/>
        </p:nvSpPr>
        <p:spPr>
          <a:xfrm>
            <a:off x="1114719" y="3855846"/>
            <a:ext cx="4119692" cy="2148322"/>
          </a:xfrm>
          <a:prstGeom prst="flowChartProcess">
            <a:avLst/>
          </a:prstGeom>
          <a:solidFill>
            <a:srgbClr val="B9D0F1">
              <a:alpha val="14902"/>
            </a:srgb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49C40661-B637-D14E-8B33-BA02B51C1CE9}"/>
              </a:ext>
            </a:extLst>
          </p:cNvPr>
          <p:cNvSpPr/>
          <p:nvPr/>
        </p:nvSpPr>
        <p:spPr>
          <a:xfrm>
            <a:off x="6464649" y="1591193"/>
            <a:ext cx="4759360" cy="4018979"/>
          </a:xfrm>
          <a:prstGeom prst="flowChartProcess">
            <a:avLst/>
          </a:prstGeom>
          <a:solidFill>
            <a:srgbClr val="B9D0F1">
              <a:alpha val="14902"/>
            </a:srgb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078981"/>
      </p:ext>
    </p:extLst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AF328A-127D-C114-3983-A9C13DF66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69F66D-83B3-CD02-6D87-24EFED5D5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2661"/>
            <a:ext cx="12192000" cy="471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56974"/>
      </p:ext>
    </p:extLst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7A15A-3F43-4137-F64B-C5B731A0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0338"/>
            <a:ext cx="10972800" cy="792162"/>
          </a:xfrm>
        </p:spPr>
        <p:txBody>
          <a:bodyPr/>
          <a:lstStyle/>
          <a:p>
            <a:r>
              <a:rPr lang="en-US" sz="2800" dirty="0"/>
              <a:t>Implementation Progress: Core Features Complete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0BC5A4A8-737E-A955-6209-9E4FF8B19240}"/>
              </a:ext>
            </a:extLst>
          </p:cNvPr>
          <p:cNvSpPr/>
          <p:nvPr/>
        </p:nvSpPr>
        <p:spPr>
          <a:xfrm>
            <a:off x="1046039" y="1361057"/>
            <a:ext cx="8595360" cy="84674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CSV tables loaded · 58.4M records ·307,511 verified applications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42A76D2-9D76-3A55-75D8-787BAEB8F698}"/>
              </a:ext>
            </a:extLst>
          </p:cNvPr>
          <p:cNvSpPr/>
          <p:nvPr/>
        </p:nvSpPr>
        <p:spPr>
          <a:xfrm>
            <a:off x="1046039" y="2527084"/>
            <a:ext cx="8595360" cy="86022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missing values, 0 infinity values . Feature importance validated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697F9BC-79D1-7354-FF49-219886030563}"/>
              </a:ext>
            </a:extLst>
          </p:cNvPr>
          <p:cNvSpPr/>
          <p:nvPr/>
        </p:nvSpPr>
        <p:spPr>
          <a:xfrm>
            <a:off x="1046039" y="3597745"/>
            <a:ext cx="8595360" cy="87460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 · Random Forest - No overfitting - All models saved as .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422796C3-26DF-07CD-AE5C-74D1CBBA8EAA}"/>
              </a:ext>
            </a:extLst>
          </p:cNvPr>
          <p:cNvSpPr/>
          <p:nvPr/>
        </p:nvSpPr>
        <p:spPr>
          <a:xfrm>
            <a:off x="1046039" y="4632701"/>
            <a:ext cx="8595360" cy="9202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API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Localhost:Windows+Python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3.11-Jupyter notebooks(5)-GitHub repo maintained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BC7ED30-91F6-90D6-F3FF-789E23107814}"/>
              </a:ext>
            </a:extLst>
          </p:cNvPr>
          <p:cNvSpPr/>
          <p:nvPr/>
        </p:nvSpPr>
        <p:spPr>
          <a:xfrm>
            <a:off x="9745902" y="1588377"/>
            <a:ext cx="1486988" cy="39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Complete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2FAB65A-B3D7-8A15-2521-24BA69B58A01}"/>
              </a:ext>
            </a:extLst>
          </p:cNvPr>
          <p:cNvSpPr/>
          <p:nvPr/>
        </p:nvSpPr>
        <p:spPr>
          <a:xfrm>
            <a:off x="9745902" y="2776224"/>
            <a:ext cx="1486988" cy="39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Complete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B85ADCE-A276-0463-1CF7-49CC26862A94}"/>
              </a:ext>
            </a:extLst>
          </p:cNvPr>
          <p:cNvSpPr/>
          <p:nvPr/>
        </p:nvSpPr>
        <p:spPr>
          <a:xfrm>
            <a:off x="9745902" y="3794588"/>
            <a:ext cx="1486988" cy="39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Complete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2FA05842-EAB7-929D-9662-9B5AD7476F23}"/>
              </a:ext>
            </a:extLst>
          </p:cNvPr>
          <p:cNvSpPr/>
          <p:nvPr/>
        </p:nvSpPr>
        <p:spPr>
          <a:xfrm>
            <a:off x="9745902" y="4896764"/>
            <a:ext cx="1486988" cy="39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Complete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723586"/>
      </p:ext>
    </p:extLst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2138-C25F-E2BD-B443-80CAC07C0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 - 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EF4A50-365E-9C9D-75DD-28B057DE30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821348"/>
              </p:ext>
            </p:extLst>
          </p:nvPr>
        </p:nvGraphicFramePr>
        <p:xfrm>
          <a:off x="609600" y="1455738"/>
          <a:ext cx="10972800" cy="10972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15465147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487115575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55197164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10416909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731983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 ROC-AUC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ROC-AUC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69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580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8368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5A3B75-4309-1F5F-630B-69A29872AC9C}"/>
              </a:ext>
            </a:extLst>
          </p:cNvPr>
          <p:cNvSpPr txBox="1"/>
          <p:nvPr/>
        </p:nvSpPr>
        <p:spPr>
          <a:xfrm>
            <a:off x="824204" y="3406952"/>
            <a:ext cx="43076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Target: ROC-AUC &gt; 0.75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Best ROC-AUC Achieved : 0.7629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Production quality: No overfitting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A78F4D-6445-24FF-3522-446C10355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510" y="2821331"/>
            <a:ext cx="5800531" cy="28728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B578E57-26AF-ED1D-3376-3DEE5397E66B}"/>
              </a:ext>
            </a:extLst>
          </p:cNvPr>
          <p:cNvSpPr/>
          <p:nvPr/>
        </p:nvSpPr>
        <p:spPr>
          <a:xfrm>
            <a:off x="522514" y="1343608"/>
            <a:ext cx="10767527" cy="13655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CCEF74-4956-5D69-F420-8C509E0FFF7E}"/>
              </a:ext>
            </a:extLst>
          </p:cNvPr>
          <p:cNvSpPr/>
          <p:nvPr/>
        </p:nvSpPr>
        <p:spPr>
          <a:xfrm flipV="1">
            <a:off x="609600" y="3174306"/>
            <a:ext cx="4130351" cy="16656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375661-9511-9508-6230-6248796DFB73}"/>
              </a:ext>
            </a:extLst>
          </p:cNvPr>
          <p:cNvSpPr/>
          <p:nvPr/>
        </p:nvSpPr>
        <p:spPr>
          <a:xfrm flipV="1">
            <a:off x="5489510" y="2821331"/>
            <a:ext cx="5800531" cy="28728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917211"/>
      </p:ext>
    </p:extLst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4136-BF39-CF0C-07F4-F3292084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 – Feature Importance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DD47E-ECFD-145C-C025-C2E685E0F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9204"/>
            <a:ext cx="5128727" cy="4906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Engineered Feature Groups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EXT_SOURCE interaction features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ratio features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behavior interactions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Cross-source behavioral metrics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features are engineered signals — not raw dataset columns.</a:t>
            </a:r>
          </a:p>
          <a:p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Feature Performance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BEHAVIORAL_CONSISTENCY ranked within top 10% features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predictive power of cross-source discipline</a:t>
            </a: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90CC100A-3971-0E8D-0642-828807F92C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9165231"/>
              </p:ext>
            </p:extLst>
          </p:nvPr>
        </p:nvGraphicFramePr>
        <p:xfrm>
          <a:off x="5738327" y="1219204"/>
          <a:ext cx="6299408" cy="45265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72692051"/>
      </p:ext>
    </p:extLst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572F-36E5-1F3B-DCDE-59C771E30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651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IN" dirty="0">
              <a:solidFill>
                <a:srgbClr val="3651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5EC0524C-39FD-8BE6-A762-F7ACB52000CD}"/>
              </a:ext>
            </a:extLst>
          </p:cNvPr>
          <p:cNvSpPr/>
          <p:nvPr/>
        </p:nvSpPr>
        <p:spPr>
          <a:xfrm>
            <a:off x="450197" y="1550743"/>
            <a:ext cx="11291605" cy="79216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397B126A-F94C-B200-6C5C-E8BAF418BECF}"/>
              </a:ext>
            </a:extLst>
          </p:cNvPr>
          <p:cNvSpPr/>
          <p:nvPr/>
        </p:nvSpPr>
        <p:spPr>
          <a:xfrm>
            <a:off x="450198" y="1550743"/>
            <a:ext cx="96099" cy="79216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E6F632F-19CE-0297-CC42-A0FC6D0EB51C}"/>
              </a:ext>
            </a:extLst>
          </p:cNvPr>
          <p:cNvSpPr/>
          <p:nvPr/>
        </p:nvSpPr>
        <p:spPr>
          <a:xfrm>
            <a:off x="678798" y="1605606"/>
            <a:ext cx="6606791" cy="244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Leakage in Pipeline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2938557-4375-DC64-11EF-D84283A4B126}"/>
              </a:ext>
            </a:extLst>
          </p:cNvPr>
          <p:cNvSpPr/>
          <p:nvPr/>
        </p:nvSpPr>
        <p:spPr>
          <a:xfrm>
            <a:off x="7948277" y="1605606"/>
            <a:ext cx="1441481" cy="244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C1AA1FB5-BCD5-5030-B660-5C20F7F8495A}"/>
              </a:ext>
            </a:extLst>
          </p:cNvPr>
          <p:cNvSpPr/>
          <p:nvPr/>
        </p:nvSpPr>
        <p:spPr>
          <a:xfrm>
            <a:off x="678798" y="1916503"/>
            <a:ext cx="5405556" cy="391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SMOTE + imputation applied before split → AUC inflated from 0.78 → 0.94 (false signal)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D4890A3D-2031-322D-E58D-D5E9D69C57CD}"/>
              </a:ext>
            </a:extLst>
          </p:cNvPr>
          <p:cNvSpPr/>
          <p:nvPr/>
        </p:nvSpPr>
        <p:spPr>
          <a:xfrm>
            <a:off x="6084353" y="1900756"/>
            <a:ext cx="5894798" cy="391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first → fit all transformers on train only → SMOTE on train only. All results now trustworthy.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149F2FA5-7265-115B-2956-0B95B9E51CC5}"/>
              </a:ext>
            </a:extLst>
          </p:cNvPr>
          <p:cNvSpPr/>
          <p:nvPr/>
        </p:nvSpPr>
        <p:spPr>
          <a:xfrm>
            <a:off x="450197" y="2556583"/>
            <a:ext cx="11291605" cy="79216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44912593-4B5C-7523-358C-AAC6EB3DF183}"/>
              </a:ext>
            </a:extLst>
          </p:cNvPr>
          <p:cNvSpPr/>
          <p:nvPr/>
        </p:nvSpPr>
        <p:spPr>
          <a:xfrm>
            <a:off x="450198" y="2556583"/>
            <a:ext cx="96099" cy="79216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D1768790-85F0-0FA1-F083-7157106428B4}"/>
              </a:ext>
            </a:extLst>
          </p:cNvPr>
          <p:cNvSpPr/>
          <p:nvPr/>
        </p:nvSpPr>
        <p:spPr>
          <a:xfrm>
            <a:off x="678798" y="2611446"/>
            <a:ext cx="6606791" cy="244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58.4M Records — Memory Overflow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2504FD22-F8AB-6D83-6114-31DFDB1BB031}"/>
              </a:ext>
            </a:extLst>
          </p:cNvPr>
          <p:cNvSpPr/>
          <p:nvPr/>
        </p:nvSpPr>
        <p:spPr>
          <a:xfrm>
            <a:off x="7948277" y="2611446"/>
            <a:ext cx="1441481" cy="244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30453356-171F-97C4-11DD-C6B9CFCE54D9}"/>
              </a:ext>
            </a:extLst>
          </p:cNvPr>
          <p:cNvSpPr/>
          <p:nvPr/>
        </p:nvSpPr>
        <p:spPr>
          <a:xfrm>
            <a:off x="678798" y="2922343"/>
            <a:ext cx="5405556" cy="391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 (10M), Installments (13M) caused OOM errors during aggregation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94F26102-52D9-A570-05F3-656EAC94A9B6}"/>
              </a:ext>
            </a:extLst>
          </p:cNvPr>
          <p:cNvSpPr/>
          <p:nvPr/>
        </p:nvSpPr>
        <p:spPr>
          <a:xfrm>
            <a:off x="6107648" y="2922343"/>
            <a:ext cx="5525679" cy="391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Chunked processing · selective column loading · pandas dtype optimization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CF568959-4969-2C6C-1D8A-BE913ED85443}"/>
              </a:ext>
            </a:extLst>
          </p:cNvPr>
          <p:cNvSpPr/>
          <p:nvPr/>
        </p:nvSpPr>
        <p:spPr>
          <a:xfrm>
            <a:off x="450197" y="3562423"/>
            <a:ext cx="11291605" cy="79216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E11E1C5B-82E7-108D-D2BD-C7570B0E69F3}"/>
              </a:ext>
            </a:extLst>
          </p:cNvPr>
          <p:cNvSpPr/>
          <p:nvPr/>
        </p:nvSpPr>
        <p:spPr>
          <a:xfrm>
            <a:off x="450198" y="3562423"/>
            <a:ext cx="96099" cy="79216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99858F6F-72D5-5DA3-0FB1-0DDCA829384F}"/>
              </a:ext>
            </a:extLst>
          </p:cNvPr>
          <p:cNvSpPr/>
          <p:nvPr/>
        </p:nvSpPr>
        <p:spPr>
          <a:xfrm>
            <a:off x="678798" y="3617286"/>
            <a:ext cx="6606791" cy="244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Divergent Feature Sets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AED3166B-8504-3389-4CEC-FA96D6E56A60}"/>
              </a:ext>
            </a:extLst>
          </p:cNvPr>
          <p:cNvSpPr/>
          <p:nvPr/>
        </p:nvSpPr>
        <p:spPr>
          <a:xfrm>
            <a:off x="7948277" y="3617286"/>
            <a:ext cx="1441481" cy="244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8082BF05-532A-57C4-85D7-DA2813B05E2D}"/>
              </a:ext>
            </a:extLst>
          </p:cNvPr>
          <p:cNvSpPr/>
          <p:nvPr/>
        </p:nvSpPr>
        <p:spPr>
          <a:xfrm>
            <a:off x="678798" y="3928183"/>
            <a:ext cx="5405556" cy="391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 produced 329, 240, and 151 features independently — not directly comparable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7101D3F6-9946-7C78-3527-0B84D5A5000C}"/>
              </a:ext>
            </a:extLst>
          </p:cNvPr>
          <p:cNvSpPr/>
          <p:nvPr/>
        </p:nvSpPr>
        <p:spPr>
          <a:xfrm>
            <a:off x="6150238" y="3906766"/>
            <a:ext cx="5525679" cy="391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canonical pipeline · cross-referenced importance rankings · merged best features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5A3300-5D5D-45DA-F11B-B4ADA9E7806C}"/>
              </a:ext>
            </a:extLst>
          </p:cNvPr>
          <p:cNvSpPr/>
          <p:nvPr/>
        </p:nvSpPr>
        <p:spPr>
          <a:xfrm>
            <a:off x="438551" y="4562894"/>
            <a:ext cx="11291605" cy="79216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76F9F164-E540-6F13-352B-31C8551FFB4E}"/>
              </a:ext>
            </a:extLst>
          </p:cNvPr>
          <p:cNvSpPr/>
          <p:nvPr/>
        </p:nvSpPr>
        <p:spPr>
          <a:xfrm>
            <a:off x="450198" y="4568263"/>
            <a:ext cx="96099" cy="79216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5A698DE7-336E-1ADE-AB0A-1E29EEF65FA5}"/>
              </a:ext>
            </a:extLst>
          </p:cNvPr>
          <p:cNvSpPr/>
          <p:nvPr/>
        </p:nvSpPr>
        <p:spPr>
          <a:xfrm>
            <a:off x="678798" y="4623126"/>
            <a:ext cx="6606791" cy="244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(8.07% default)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194035A0-FC60-1C85-9367-1EE5B6E19506}"/>
              </a:ext>
            </a:extLst>
          </p:cNvPr>
          <p:cNvSpPr/>
          <p:nvPr/>
        </p:nvSpPr>
        <p:spPr>
          <a:xfrm>
            <a:off x="7948277" y="4623126"/>
            <a:ext cx="1441481" cy="244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06C4471F-74E7-AA9B-95AD-21902126017B}"/>
              </a:ext>
            </a:extLst>
          </p:cNvPr>
          <p:cNvSpPr/>
          <p:nvPr/>
        </p:nvSpPr>
        <p:spPr>
          <a:xfrm>
            <a:off x="678798" y="4934023"/>
            <a:ext cx="5405556" cy="391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models predict 'no default' 92% of time — useless for credit scoring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12114905-0BF5-F22A-84CD-AB27EE851A44}"/>
              </a:ext>
            </a:extLst>
          </p:cNvPr>
          <p:cNvSpPr/>
          <p:nvPr/>
        </p:nvSpPr>
        <p:spPr>
          <a:xfrm>
            <a:off x="6150238" y="4880435"/>
            <a:ext cx="5525679" cy="391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scale_pos_weight=11.4 · Threshold tuned to 0.62 · Recall for defaulters &gt; 70%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953397"/>
      </p:ext>
    </p:extLst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8BAA5E6-17D7-7128-F4BD-7F951AC2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Plan : Cloud Deployment Strategy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65E1ED-2E9F-0BCE-4EDE-4C1291EFF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852" y="1141225"/>
            <a:ext cx="660607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Platform: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Selected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Free tier (1GB RAM)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 GitHub integration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Auto-deploy on push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our model size (50MB)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Scaling Considerations: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capacity: 1,000 requests/day (free tier)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Production scaling: AWS/Azure for &gt;10K requests/day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response time: &lt;200ms per prediction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pipeline: Batch processing for training updates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 Timeline: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Week 4 (March 4-8, 2026)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D8C89-B362-DB22-6DBD-7BEACB67486D}"/>
              </a:ext>
            </a:extLst>
          </p:cNvPr>
          <p:cNvSpPr txBox="1"/>
          <p:nvPr/>
        </p:nvSpPr>
        <p:spPr>
          <a:xfrm>
            <a:off x="2789852" y="3091184"/>
            <a:ext cx="81642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 → ML Model (.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Predictions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GitHub Repository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838A4D-632F-2B05-8E26-F4F4B65046EC}"/>
              </a:ext>
            </a:extLst>
          </p:cNvPr>
          <p:cNvSpPr txBox="1"/>
          <p:nvPr/>
        </p:nvSpPr>
        <p:spPr>
          <a:xfrm>
            <a:off x="2792964" y="2721852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Architecture: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2BD420-9501-AE72-D2E3-FBF49921802E}"/>
              </a:ext>
            </a:extLst>
          </p:cNvPr>
          <p:cNvSpPr/>
          <p:nvPr/>
        </p:nvSpPr>
        <p:spPr>
          <a:xfrm>
            <a:off x="2792964" y="2721852"/>
            <a:ext cx="7022840" cy="12926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579889"/>
      </p:ext>
    </p:extLst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EE4417C-5F66-C5B8-88FB-7914597B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dirty="0"/>
              <a:t>Timeline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BE2C5D-2BAF-F76E-BF5C-5A0405E64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325673"/>
              </p:ext>
            </p:extLst>
          </p:nvPr>
        </p:nvGraphicFramePr>
        <p:xfrm>
          <a:off x="1185333" y="1280160"/>
          <a:ext cx="10126136" cy="250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1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1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Feb 11–15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EDA + Data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✅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Feb 16–22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Feature Engineering + Baseline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✅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Feb 23–Mar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Advanced Features + Fairness + </a:t>
                      </a:r>
                      <a:r>
                        <a:rPr lang="en-US" dirty="0" err="1"/>
                        <a:t>XGBoost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🔄 Current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Mar 2–8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 err="1"/>
                        <a:t>Streamlit</a:t>
                      </a:r>
                      <a:r>
                        <a:rPr dirty="0"/>
                        <a:t> Deployment + Final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dirty="0"/>
                        <a:t>📅 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5DBDD6A-D345-6C66-D3A1-E1C4C8E71A36}"/>
              </a:ext>
            </a:extLst>
          </p:cNvPr>
          <p:cNvSpPr txBox="1"/>
          <p:nvPr/>
        </p:nvSpPr>
        <p:spPr>
          <a:xfrm>
            <a:off x="1308950" y="4131290"/>
            <a:ext cx="4333238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/>
              <a:t>Week 3 Goals (In Progress):</a:t>
            </a:r>
          </a:p>
          <a:p>
            <a:pPr lvl="1">
              <a:defRPr sz="1400"/>
            </a:pPr>
            <a:r>
              <a:rPr sz="1400" dirty="0"/>
              <a:t>✅ Behavioral consistency (novelty) – DONE</a:t>
            </a:r>
          </a:p>
          <a:p>
            <a:pPr lvl="1">
              <a:defRPr sz="1400"/>
            </a:pPr>
            <a:r>
              <a:rPr sz="1400" dirty="0"/>
              <a:t>🔄 Financial trajectory scoring</a:t>
            </a:r>
          </a:p>
          <a:p>
            <a:pPr lvl="1">
              <a:defRPr sz="1400"/>
            </a:pPr>
            <a:r>
              <a:rPr sz="1400" dirty="0"/>
              <a:t>🔄 Fairness-aware model constraints</a:t>
            </a:r>
          </a:p>
          <a:p>
            <a:pPr lvl="1">
              <a:defRPr sz="1400"/>
            </a:pPr>
            <a:r>
              <a:rPr sz="1400" dirty="0"/>
              <a:t>🔄 Counterfactual explanations</a:t>
            </a:r>
          </a:p>
          <a:p>
            <a:pPr lvl="1">
              <a:defRPr sz="1400"/>
            </a:pPr>
            <a:r>
              <a:rPr sz="1400" dirty="0"/>
              <a:t>🎯 Target: ROC-AUC &gt; 0.80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ADDAC-E563-F477-7304-CF06D135F407}"/>
              </a:ext>
            </a:extLst>
          </p:cNvPr>
          <p:cNvSpPr txBox="1"/>
          <p:nvPr/>
        </p:nvSpPr>
        <p:spPr>
          <a:xfrm>
            <a:off x="6685280" y="4239012"/>
            <a:ext cx="2837636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/>
              <a:t>Week 4 Goals:</a:t>
            </a:r>
          </a:p>
          <a:p>
            <a:pPr lvl="1">
              <a:defRPr sz="1400"/>
            </a:pPr>
            <a:r>
              <a:rPr sz="1400" dirty="0" err="1"/>
              <a:t>Streamlit</a:t>
            </a:r>
            <a:r>
              <a:rPr sz="1400" dirty="0"/>
              <a:t> UI development</a:t>
            </a:r>
          </a:p>
          <a:p>
            <a:pPr lvl="1">
              <a:defRPr sz="1400"/>
            </a:pPr>
            <a:r>
              <a:rPr sz="1400" dirty="0"/>
              <a:t>Cloud deployment</a:t>
            </a:r>
          </a:p>
          <a:p>
            <a:pPr lvl="1">
              <a:defRPr sz="1400"/>
            </a:pPr>
            <a:r>
              <a:rPr sz="1400" dirty="0"/>
              <a:t>SHAP explainability</a:t>
            </a:r>
          </a:p>
          <a:p>
            <a:pPr lvl="1">
              <a:defRPr sz="1400"/>
            </a:pPr>
            <a:r>
              <a:rPr sz="1400" dirty="0"/>
              <a:t>Final presentation prep</a:t>
            </a:r>
          </a:p>
        </p:txBody>
      </p:sp>
    </p:spTree>
    <p:extLst>
      <p:ext uri="{BB962C8B-B14F-4D97-AF65-F5344CB8AC3E}">
        <p14:creationId xmlns:p14="http://schemas.microsoft.com/office/powerpoint/2010/main" val="3327701239"/>
      </p:ext>
    </p:extLst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85ECF7-8746-2AA7-5E63-D37093B1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 </a:t>
            </a:r>
            <a:endParaRPr lang="en-IN" dirty="0"/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C967E854-253B-CE9F-2311-2E7C7C15B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849" r="2467"/>
          <a:stretch>
            <a:fillRect/>
          </a:stretch>
        </p:blipFill>
        <p:spPr bwMode="auto">
          <a:xfrm>
            <a:off x="525698" y="1349527"/>
            <a:ext cx="3348033" cy="4158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FEF98E-0650-02BD-2E54-2025945C7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807" y="1349527"/>
            <a:ext cx="3603110" cy="41589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C3E92C-5925-9DF7-E57F-1882F1F20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594" y="1349527"/>
            <a:ext cx="3512323" cy="41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55031"/>
      </p:ext>
    </p:extLst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0380-9CBD-3EED-F56D-6224680D2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854B7-B0C9-1653-A256-0DF46479E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307,511 applications + 58.4M alternative records integrated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239 high-quality features engineered (from 371 candidates)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Forest model: 0.763 ROC-AUC (exceeds 0.75 target)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Regression: 0.740 ROC-AUC (solid baseline)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Novelty proven: Behavioral consistency in top 10% of features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Week 3 Goals: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financial trajectory scoring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fairness-aware model constraints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counterfactual explanation system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LightGBM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+ ensemble methods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245268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ss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2E8CE935-F3DA-4639-839D-0F6A64CCE9C9}" vid="{A99DBA6F-CE1E-45EC-8558-A285390E65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2690</TotalTime>
  <Words>869</Words>
  <Application>Microsoft Office PowerPoint</Application>
  <PresentationFormat>Widescreen</PresentationFormat>
  <Paragraphs>183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Comic Sans MS</vt:lpstr>
      <vt:lpstr>Times New Roman</vt:lpstr>
      <vt:lpstr>ssn</vt:lpstr>
      <vt:lpstr>PowerPoint Presentation</vt:lpstr>
      <vt:lpstr>Problem Statement – “Why Traditional Credit Scoring Fails Millions”</vt:lpstr>
      <vt:lpstr>Our Behavioral-Based Solution</vt:lpstr>
      <vt:lpstr>Methodology</vt:lpstr>
      <vt:lpstr>Implementation Progress: Core Features Complete</vt:lpstr>
      <vt:lpstr>Implementation Progress - Results</vt:lpstr>
      <vt:lpstr>Implementation Progress – Feature Importance</vt:lpstr>
      <vt:lpstr>Challenges Faced</vt:lpstr>
      <vt:lpstr>Scaling Plan : Cloud Deployment Strategy</vt:lpstr>
      <vt:lpstr>Timeline</vt:lpstr>
      <vt:lpstr>Novelty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K.S.Gayathri</dc:creator>
  <cp:lastModifiedBy>Nithilan S</cp:lastModifiedBy>
  <cp:revision>192</cp:revision>
  <dcterms:created xsi:type="dcterms:W3CDTF">2023-04-06T06:48:43Z</dcterms:created>
  <dcterms:modified xsi:type="dcterms:W3CDTF">2026-02-22T14:11:58Z</dcterms:modified>
</cp:coreProperties>
</file>