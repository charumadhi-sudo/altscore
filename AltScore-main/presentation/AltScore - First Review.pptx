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72" r:id="rId9"/>
    <p:sldId id="268" r:id="rId10"/>
    <p:sldId id="269" r:id="rId11"/>
    <p:sldId id="270" r:id="rId12"/>
    <p:sldId id="271" r:id="rId1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2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3A25E-EA0F-46FF-820A-49CAC01D2DDB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071FFB-BC15-4E68-8FA5-8C19E352A939}">
      <dgm:prSet phldrT="[Text]"/>
      <dgm:spPr/>
      <dgm:t>
        <a:bodyPr/>
        <a:lstStyle/>
        <a:p>
          <a:pPr>
            <a:buNone/>
          </a:pPr>
          <a:r>
            <a:rPr lang="en-IN" dirty="0"/>
            <a:t>Understanding the Data</a:t>
          </a:r>
        </a:p>
      </dgm:t>
    </dgm:pt>
    <dgm:pt modelId="{11C8E053-B539-498C-90DA-10B7483FADE8}" type="parTrans" cxnId="{55C1C81F-F0CF-424F-AC7F-8EF25D44A267}">
      <dgm:prSet/>
      <dgm:spPr/>
      <dgm:t>
        <a:bodyPr/>
        <a:lstStyle/>
        <a:p>
          <a:endParaRPr lang="en-IN"/>
        </a:p>
      </dgm:t>
    </dgm:pt>
    <dgm:pt modelId="{3C401304-0514-4D7C-923F-648C57AE2B6D}" type="sibTrans" cxnId="{55C1C81F-F0CF-424F-AC7F-8EF25D44A267}">
      <dgm:prSet/>
      <dgm:spPr/>
      <dgm:t>
        <a:bodyPr/>
        <a:lstStyle/>
        <a:p>
          <a:endParaRPr lang="en-IN"/>
        </a:p>
      </dgm:t>
    </dgm:pt>
    <dgm:pt modelId="{20A48A6A-6491-48B9-A419-5369FC81F65D}">
      <dgm:prSet phldrT="[Text]"/>
      <dgm:spPr/>
      <dgm:t>
        <a:bodyPr/>
        <a:lstStyle/>
        <a:p>
          <a:r>
            <a:rPr lang="en-US" dirty="0"/>
            <a:t>Loaded all 307,511 apps + 58M records</a:t>
          </a:r>
          <a:endParaRPr lang="en-IN" dirty="0"/>
        </a:p>
      </dgm:t>
    </dgm:pt>
    <dgm:pt modelId="{D9671134-0E4B-42A4-B9E0-5BD45717F030}" type="parTrans" cxnId="{EB5D24BE-8111-4434-B7E3-95D820BEE3A9}">
      <dgm:prSet/>
      <dgm:spPr/>
      <dgm:t>
        <a:bodyPr/>
        <a:lstStyle/>
        <a:p>
          <a:endParaRPr lang="en-IN"/>
        </a:p>
      </dgm:t>
    </dgm:pt>
    <dgm:pt modelId="{F094DB40-9B58-4BF2-8B41-746B1DFEF3B0}" type="sibTrans" cxnId="{EB5D24BE-8111-4434-B7E3-95D820BEE3A9}">
      <dgm:prSet/>
      <dgm:spPr/>
      <dgm:t>
        <a:bodyPr/>
        <a:lstStyle/>
        <a:p>
          <a:endParaRPr lang="en-IN"/>
        </a:p>
      </dgm:t>
    </dgm:pt>
    <dgm:pt modelId="{C0767BCD-352B-49E1-B487-A6F4D07C154F}">
      <dgm:prSet phldrT="[Text]"/>
      <dgm:spPr/>
      <dgm:t>
        <a:bodyPr/>
        <a:lstStyle/>
        <a:p>
          <a:pPr>
            <a:buNone/>
          </a:pPr>
          <a:r>
            <a:rPr lang="en-IN" dirty="0"/>
            <a:t>Finding Patterns</a:t>
          </a:r>
        </a:p>
      </dgm:t>
    </dgm:pt>
    <dgm:pt modelId="{DB9F4EAC-5882-4D29-B231-0877C075A502}" type="parTrans" cxnId="{44E6657A-6026-473F-B4F7-9F919417C49E}">
      <dgm:prSet/>
      <dgm:spPr/>
      <dgm:t>
        <a:bodyPr/>
        <a:lstStyle/>
        <a:p>
          <a:endParaRPr lang="en-IN"/>
        </a:p>
      </dgm:t>
    </dgm:pt>
    <dgm:pt modelId="{F9584483-EDF8-4FDE-98C6-2D99CEA7C2C2}" type="sibTrans" cxnId="{44E6657A-6026-473F-B4F7-9F919417C49E}">
      <dgm:prSet/>
      <dgm:spPr/>
      <dgm:t>
        <a:bodyPr/>
        <a:lstStyle/>
        <a:p>
          <a:endParaRPr lang="en-IN"/>
        </a:p>
      </dgm:t>
    </dgm:pt>
    <dgm:pt modelId="{AC295905-C915-4688-BE16-CAF498B3D56F}">
      <dgm:prSet phldrT="[Text]"/>
      <dgm:spPr/>
      <dgm:t>
        <a:bodyPr/>
        <a:lstStyle/>
        <a:p>
          <a:r>
            <a:rPr lang="en-IN" dirty="0"/>
            <a:t>Created 10 professional visualizations</a:t>
          </a:r>
        </a:p>
      </dgm:t>
    </dgm:pt>
    <dgm:pt modelId="{FB74C3F0-F741-4CBD-8504-58AC965FE6CA}" type="parTrans" cxnId="{953DCE58-A020-47E0-AFB6-093C44B1A818}">
      <dgm:prSet/>
      <dgm:spPr/>
      <dgm:t>
        <a:bodyPr/>
        <a:lstStyle/>
        <a:p>
          <a:endParaRPr lang="en-IN"/>
        </a:p>
      </dgm:t>
    </dgm:pt>
    <dgm:pt modelId="{28D49141-B077-49EF-B307-2571B61C80A8}" type="sibTrans" cxnId="{953DCE58-A020-47E0-AFB6-093C44B1A818}">
      <dgm:prSet/>
      <dgm:spPr/>
      <dgm:t>
        <a:bodyPr/>
        <a:lstStyle/>
        <a:p>
          <a:endParaRPr lang="en-IN"/>
        </a:p>
      </dgm:t>
    </dgm:pt>
    <dgm:pt modelId="{FFA6549E-3431-4A32-9987-8483F49867AD}">
      <dgm:prSet phldrT="[Text]"/>
      <dgm:spPr/>
      <dgm:t>
        <a:bodyPr/>
        <a:lstStyle/>
        <a:p>
          <a:pPr>
            <a:buNone/>
          </a:pPr>
          <a:r>
            <a:rPr lang="en-IN" dirty="0"/>
            <a:t>Generating Insights</a:t>
          </a:r>
        </a:p>
      </dgm:t>
    </dgm:pt>
    <dgm:pt modelId="{CA34C771-FB2C-4C64-AFA1-52601435AC61}" type="parTrans" cxnId="{1AD46F59-399B-4CC5-AE8C-44E2DC4113C6}">
      <dgm:prSet/>
      <dgm:spPr/>
      <dgm:t>
        <a:bodyPr/>
        <a:lstStyle/>
        <a:p>
          <a:endParaRPr lang="en-IN"/>
        </a:p>
      </dgm:t>
    </dgm:pt>
    <dgm:pt modelId="{DA423775-EE22-4C8A-8E8A-9A865CDB4E75}" type="sibTrans" cxnId="{1AD46F59-399B-4CC5-AE8C-44E2DC4113C6}">
      <dgm:prSet/>
      <dgm:spPr/>
      <dgm:t>
        <a:bodyPr/>
        <a:lstStyle/>
        <a:p>
          <a:endParaRPr lang="en-IN"/>
        </a:p>
      </dgm:t>
    </dgm:pt>
    <dgm:pt modelId="{9E942AF6-4375-4BF6-90A3-14ACEC0E8883}">
      <dgm:prSet phldrT="[Text]"/>
      <dgm:spPr/>
      <dgm:t>
        <a:bodyPr/>
        <a:lstStyle/>
        <a:p>
          <a:r>
            <a:rPr lang="en-IN" dirty="0"/>
            <a:t>Identified top predictive features</a:t>
          </a:r>
        </a:p>
      </dgm:t>
    </dgm:pt>
    <dgm:pt modelId="{E38E32F1-B2FF-4999-B7E9-0854830387EB}" type="parTrans" cxnId="{74851D4F-7079-47ED-8EDD-7DB466948AA5}">
      <dgm:prSet/>
      <dgm:spPr/>
      <dgm:t>
        <a:bodyPr/>
        <a:lstStyle/>
        <a:p>
          <a:endParaRPr lang="en-IN"/>
        </a:p>
      </dgm:t>
    </dgm:pt>
    <dgm:pt modelId="{685E388B-F993-4711-BEFA-C6D55795BC20}" type="sibTrans" cxnId="{74851D4F-7079-47ED-8EDD-7DB466948AA5}">
      <dgm:prSet/>
      <dgm:spPr/>
      <dgm:t>
        <a:bodyPr/>
        <a:lstStyle/>
        <a:p>
          <a:endParaRPr lang="en-IN"/>
        </a:p>
      </dgm:t>
    </dgm:pt>
    <dgm:pt modelId="{5B203DF4-6808-4A2F-B459-7A84D26647C4}">
      <dgm:prSet/>
      <dgm:spPr/>
      <dgm:t>
        <a:bodyPr/>
        <a:lstStyle/>
        <a:p>
          <a:r>
            <a:rPr lang="en-US" dirty="0"/>
            <a:t>Profiled data quality - found missing values, understood distributions</a:t>
          </a:r>
          <a:endParaRPr lang="en-IN" dirty="0"/>
        </a:p>
      </dgm:t>
    </dgm:pt>
    <dgm:pt modelId="{AA2AB030-1581-48AD-B9D8-75DDDEF3B686}" type="parTrans" cxnId="{AE2910DB-3032-4DF0-A2C7-721FFC269205}">
      <dgm:prSet/>
      <dgm:spPr/>
      <dgm:t>
        <a:bodyPr/>
        <a:lstStyle/>
        <a:p>
          <a:endParaRPr lang="en-IN"/>
        </a:p>
      </dgm:t>
    </dgm:pt>
    <dgm:pt modelId="{862901BB-74B5-4480-B3A3-72056764EBFE}" type="sibTrans" cxnId="{AE2910DB-3032-4DF0-A2C7-721FFC269205}">
      <dgm:prSet/>
      <dgm:spPr/>
      <dgm:t>
        <a:bodyPr/>
        <a:lstStyle/>
        <a:p>
          <a:endParaRPr lang="en-IN"/>
        </a:p>
      </dgm:t>
    </dgm:pt>
    <dgm:pt modelId="{76366501-0B07-4B33-B426-0CF1649676D3}">
      <dgm:prSet/>
      <dgm:spPr/>
      <dgm:t>
        <a:bodyPr/>
        <a:lstStyle/>
        <a:p>
          <a:r>
            <a:rPr lang="en-US" dirty="0"/>
            <a:t>Mapped relationships between 7 different data tables</a:t>
          </a:r>
          <a:endParaRPr lang="en-IN" dirty="0"/>
        </a:p>
      </dgm:t>
    </dgm:pt>
    <dgm:pt modelId="{A3A67583-18DD-456C-9D8A-885DCD828B7F}" type="parTrans" cxnId="{BA658495-A982-4827-A0A0-41C2CCEEA0D4}">
      <dgm:prSet/>
      <dgm:spPr/>
      <dgm:t>
        <a:bodyPr/>
        <a:lstStyle/>
        <a:p>
          <a:endParaRPr lang="en-IN"/>
        </a:p>
      </dgm:t>
    </dgm:pt>
    <dgm:pt modelId="{942091D2-2094-4EBA-B3BD-B81649630353}" type="sibTrans" cxnId="{BA658495-A982-4827-A0A0-41C2CCEEA0D4}">
      <dgm:prSet/>
      <dgm:spPr/>
      <dgm:t>
        <a:bodyPr/>
        <a:lstStyle/>
        <a:p>
          <a:endParaRPr lang="en-IN"/>
        </a:p>
      </dgm:t>
    </dgm:pt>
    <dgm:pt modelId="{FB171491-00DC-419D-8F5F-0B1E30A46362}">
      <dgm:prSet/>
      <dgm:spPr/>
      <dgm:t>
        <a:bodyPr/>
        <a:lstStyle/>
        <a:p>
          <a:r>
            <a:rPr lang="en-US" dirty="0"/>
            <a:t>Identified our target: 8.07% default rate (24,825 defaults)</a:t>
          </a:r>
          <a:endParaRPr lang="en-IN" dirty="0"/>
        </a:p>
      </dgm:t>
    </dgm:pt>
    <dgm:pt modelId="{BC17A3A5-F844-412E-A862-9FDE9F9D02F6}" type="parTrans" cxnId="{06B0C474-775A-4715-963B-C318C09CA419}">
      <dgm:prSet/>
      <dgm:spPr/>
      <dgm:t>
        <a:bodyPr/>
        <a:lstStyle/>
        <a:p>
          <a:endParaRPr lang="en-IN"/>
        </a:p>
      </dgm:t>
    </dgm:pt>
    <dgm:pt modelId="{C9A2E275-FEC4-48A3-B3C2-4DEF69382D55}" type="sibTrans" cxnId="{06B0C474-775A-4715-963B-C318C09CA419}">
      <dgm:prSet/>
      <dgm:spPr/>
      <dgm:t>
        <a:bodyPr/>
        <a:lstStyle/>
        <a:p>
          <a:endParaRPr lang="en-IN"/>
        </a:p>
      </dgm:t>
    </dgm:pt>
    <dgm:pt modelId="{2E93DA41-F6B9-4DA8-8414-3821ADBEBBD0}">
      <dgm:prSet/>
      <dgm:spPr/>
      <dgm:t>
        <a:bodyPr/>
        <a:lstStyle/>
        <a:p>
          <a:r>
            <a:rPr lang="en-IN" dirty="0"/>
            <a:t>Analysed patterns across:</a:t>
          </a:r>
        </a:p>
      </dgm:t>
    </dgm:pt>
    <dgm:pt modelId="{D7DDA50F-8849-42EE-A11F-0E6086DD1C6F}" type="parTrans" cxnId="{4893AFB5-89FA-41FC-A396-78F612D7F2D8}">
      <dgm:prSet/>
      <dgm:spPr/>
      <dgm:t>
        <a:bodyPr/>
        <a:lstStyle/>
        <a:p>
          <a:endParaRPr lang="en-IN"/>
        </a:p>
      </dgm:t>
    </dgm:pt>
    <dgm:pt modelId="{9328ABF5-E514-4248-8B34-1E6C65ADA6F2}" type="sibTrans" cxnId="{4893AFB5-89FA-41FC-A396-78F612D7F2D8}">
      <dgm:prSet/>
      <dgm:spPr/>
      <dgm:t>
        <a:bodyPr/>
        <a:lstStyle/>
        <a:p>
          <a:endParaRPr lang="en-IN"/>
        </a:p>
      </dgm:t>
    </dgm:pt>
    <dgm:pt modelId="{1CF1DF9B-EFA6-4EA8-8BF9-8B5FF0219282}">
      <dgm:prSet/>
      <dgm:spPr/>
      <dgm:t>
        <a:bodyPr/>
        <a:lstStyle/>
        <a:p>
          <a:r>
            <a:rPr lang="en-US" dirty="0"/>
            <a:t>Ran statistical tests to validate findings</a:t>
          </a:r>
          <a:endParaRPr lang="en-IN" dirty="0"/>
        </a:p>
      </dgm:t>
    </dgm:pt>
    <dgm:pt modelId="{DD629615-B9E5-4624-A70A-BE77C25A25DD}" type="parTrans" cxnId="{03A498FE-222F-4C38-BF96-1E4CD9908D20}">
      <dgm:prSet/>
      <dgm:spPr/>
      <dgm:t>
        <a:bodyPr/>
        <a:lstStyle/>
        <a:p>
          <a:endParaRPr lang="en-IN"/>
        </a:p>
      </dgm:t>
    </dgm:pt>
    <dgm:pt modelId="{FA0A1637-292D-4A84-A572-B8CFB77BD15A}" type="sibTrans" cxnId="{03A498FE-222F-4C38-BF96-1E4CD9908D20}">
      <dgm:prSet/>
      <dgm:spPr/>
      <dgm:t>
        <a:bodyPr/>
        <a:lstStyle/>
        <a:p>
          <a:endParaRPr lang="en-IN"/>
        </a:p>
      </dgm:t>
    </dgm:pt>
    <dgm:pt modelId="{3032CB65-60A0-41C0-A4A2-DE6A24BB49D0}">
      <dgm:prSet/>
      <dgm:spPr/>
      <dgm:t>
        <a:bodyPr/>
        <a:lstStyle/>
        <a:p>
          <a:r>
            <a:rPr lang="en-US" dirty="0"/>
            <a:t>Validated that alternative data actually works</a:t>
          </a:r>
          <a:endParaRPr lang="en-IN" dirty="0"/>
        </a:p>
      </dgm:t>
    </dgm:pt>
    <dgm:pt modelId="{70E8050C-6A22-4BE5-8D91-EDBCF619EFC5}" type="parTrans" cxnId="{1D32B77B-BD49-4CE9-A50C-F7C292788D8E}">
      <dgm:prSet/>
      <dgm:spPr/>
      <dgm:t>
        <a:bodyPr/>
        <a:lstStyle/>
        <a:p>
          <a:endParaRPr lang="en-IN"/>
        </a:p>
      </dgm:t>
    </dgm:pt>
    <dgm:pt modelId="{6EA7DA0A-9679-4C8A-B521-DEB1A576054C}" type="sibTrans" cxnId="{1D32B77B-BD49-4CE9-A50C-F7C292788D8E}">
      <dgm:prSet/>
      <dgm:spPr/>
      <dgm:t>
        <a:bodyPr/>
        <a:lstStyle/>
        <a:p>
          <a:endParaRPr lang="en-IN"/>
        </a:p>
      </dgm:t>
    </dgm:pt>
    <dgm:pt modelId="{166FE4D1-236A-43E7-8046-7BD4DAA7D414}">
      <dgm:prSet/>
      <dgm:spPr/>
      <dgm:t>
        <a:bodyPr/>
        <a:lstStyle/>
        <a:p>
          <a:r>
            <a:rPr lang="en-US" dirty="0"/>
            <a:t>Found key patterns that will drive our model</a:t>
          </a:r>
          <a:endParaRPr lang="en-IN" dirty="0"/>
        </a:p>
      </dgm:t>
    </dgm:pt>
    <dgm:pt modelId="{F0EA4CE4-B34B-43F8-A2FB-AC5BFDDCA1DB}" type="parTrans" cxnId="{4796B4BD-72B2-4C0E-B6E2-A0491E6C7AAF}">
      <dgm:prSet/>
      <dgm:spPr/>
      <dgm:t>
        <a:bodyPr/>
        <a:lstStyle/>
        <a:p>
          <a:endParaRPr lang="en-IN"/>
        </a:p>
      </dgm:t>
    </dgm:pt>
    <dgm:pt modelId="{C873897F-D663-4B1D-9C52-8FC2E9D7D315}" type="sibTrans" cxnId="{4796B4BD-72B2-4C0E-B6E2-A0491E6C7AAF}">
      <dgm:prSet/>
      <dgm:spPr/>
      <dgm:t>
        <a:bodyPr/>
        <a:lstStyle/>
        <a:p>
          <a:endParaRPr lang="en-IN"/>
        </a:p>
      </dgm:t>
    </dgm:pt>
    <dgm:pt modelId="{CDB9DD31-68BA-4F95-8D90-9434CBBBA763}">
      <dgm:prSet/>
      <dgm:spPr/>
      <dgm:t>
        <a:bodyPr/>
        <a:lstStyle/>
        <a:p>
          <a:r>
            <a:rPr lang="en-US" dirty="0"/>
            <a:t>Documented everything (12 detailed reports)</a:t>
          </a:r>
          <a:endParaRPr lang="en-IN" dirty="0"/>
        </a:p>
      </dgm:t>
    </dgm:pt>
    <dgm:pt modelId="{8CC92D01-BC4F-42E3-AF43-DF0B213233E4}" type="parTrans" cxnId="{9475ECC7-A5C4-4382-84C1-FAE5FACF9C7F}">
      <dgm:prSet/>
      <dgm:spPr/>
      <dgm:t>
        <a:bodyPr/>
        <a:lstStyle/>
        <a:p>
          <a:endParaRPr lang="en-IN"/>
        </a:p>
      </dgm:t>
    </dgm:pt>
    <dgm:pt modelId="{73706F27-5226-476B-A3A5-FBD3F42F6B84}" type="sibTrans" cxnId="{9475ECC7-A5C4-4382-84C1-FAE5FACF9C7F}">
      <dgm:prSet/>
      <dgm:spPr/>
      <dgm:t>
        <a:bodyPr/>
        <a:lstStyle/>
        <a:p>
          <a:endParaRPr lang="en-IN"/>
        </a:p>
      </dgm:t>
    </dgm:pt>
    <dgm:pt modelId="{2A0A0094-CFEA-4238-A6EA-C12B9542B3D5}">
      <dgm:prSet/>
      <dgm:spPr/>
      <dgm:t>
        <a:bodyPr/>
        <a:lstStyle/>
        <a:p>
          <a:r>
            <a:rPr lang="en-IN" dirty="0"/>
            <a:t>Demographics (age, education, gender)</a:t>
          </a:r>
        </a:p>
      </dgm:t>
    </dgm:pt>
    <dgm:pt modelId="{4D7F5A5F-C338-461C-806A-A24396B77490}" type="parTrans" cxnId="{9082F0BF-2966-4A8A-A884-F855A480FD3A}">
      <dgm:prSet/>
      <dgm:spPr/>
      <dgm:t>
        <a:bodyPr/>
        <a:lstStyle/>
        <a:p>
          <a:endParaRPr lang="en-IN"/>
        </a:p>
      </dgm:t>
    </dgm:pt>
    <dgm:pt modelId="{D932C0A9-ED8E-4FAA-8B3B-8DDE37936D3F}" type="sibTrans" cxnId="{9082F0BF-2966-4A8A-A884-F855A480FD3A}">
      <dgm:prSet/>
      <dgm:spPr/>
      <dgm:t>
        <a:bodyPr/>
        <a:lstStyle/>
        <a:p>
          <a:endParaRPr lang="en-IN"/>
        </a:p>
      </dgm:t>
    </dgm:pt>
    <dgm:pt modelId="{02B6526C-C3EB-4B9B-80A2-E757C2ED298F}">
      <dgm:prSet/>
      <dgm:spPr/>
      <dgm:t>
        <a:bodyPr/>
        <a:lstStyle/>
        <a:p>
          <a:r>
            <a:rPr lang="en-US" dirty="0"/>
            <a:t>Financial behavior (income, credit, leverage)</a:t>
          </a:r>
          <a:endParaRPr lang="en-IN" dirty="0"/>
        </a:p>
      </dgm:t>
    </dgm:pt>
    <dgm:pt modelId="{1815D1DE-4063-4A07-8B4C-A85C369303A9}" type="parTrans" cxnId="{136D32D7-9B64-4C81-9EA2-F1F6F3E9B8E2}">
      <dgm:prSet/>
      <dgm:spPr/>
      <dgm:t>
        <a:bodyPr/>
        <a:lstStyle/>
        <a:p>
          <a:endParaRPr lang="en-IN"/>
        </a:p>
      </dgm:t>
    </dgm:pt>
    <dgm:pt modelId="{4698A68D-F22C-4FE9-86B6-08A24EFD77E8}" type="sibTrans" cxnId="{136D32D7-9B64-4C81-9EA2-F1F6F3E9B8E2}">
      <dgm:prSet/>
      <dgm:spPr/>
      <dgm:t>
        <a:bodyPr/>
        <a:lstStyle/>
        <a:p>
          <a:endParaRPr lang="en-IN"/>
        </a:p>
      </dgm:t>
    </dgm:pt>
    <dgm:pt modelId="{4656B11B-FEC0-415F-9FF1-C89FA194D3D4}">
      <dgm:prSet/>
      <dgm:spPr/>
      <dgm:t>
        <a:bodyPr/>
        <a:lstStyle/>
        <a:p>
          <a:r>
            <a:rPr lang="en-US" dirty="0"/>
            <a:t> Payment behavior (timing, regularity, amounts)</a:t>
          </a:r>
          <a:endParaRPr lang="en-IN" dirty="0"/>
        </a:p>
      </dgm:t>
    </dgm:pt>
    <dgm:pt modelId="{B6406983-B143-48A8-B677-93B1169BA10A}" type="parTrans" cxnId="{B1DD56D6-2FEB-41AA-AB2E-7440439FB6F9}">
      <dgm:prSet/>
      <dgm:spPr/>
      <dgm:t>
        <a:bodyPr/>
        <a:lstStyle/>
        <a:p>
          <a:endParaRPr lang="en-IN"/>
        </a:p>
      </dgm:t>
    </dgm:pt>
    <dgm:pt modelId="{6D128428-170A-4F22-B443-199B9AB18AD5}" type="sibTrans" cxnId="{B1DD56D6-2FEB-41AA-AB2E-7440439FB6F9}">
      <dgm:prSet/>
      <dgm:spPr/>
      <dgm:t>
        <a:bodyPr/>
        <a:lstStyle/>
        <a:p>
          <a:endParaRPr lang="en-IN"/>
        </a:p>
      </dgm:t>
    </dgm:pt>
    <dgm:pt modelId="{FF1B3B13-F447-46D3-9CE4-24430AFD7ADB}">
      <dgm:prSet/>
      <dgm:spPr/>
      <dgm:t>
        <a:bodyPr/>
        <a:lstStyle/>
        <a:p>
          <a:r>
            <a:rPr lang="en-US" dirty="0"/>
            <a:t>Geographic factors (region, housing, employment)</a:t>
          </a:r>
          <a:endParaRPr lang="en-IN" dirty="0"/>
        </a:p>
      </dgm:t>
    </dgm:pt>
    <dgm:pt modelId="{7CBD462F-961E-4269-8851-152013076F16}" type="parTrans" cxnId="{7AC1653C-5955-40D8-B90C-3C0FCA7A53EB}">
      <dgm:prSet/>
      <dgm:spPr/>
      <dgm:t>
        <a:bodyPr/>
        <a:lstStyle/>
        <a:p>
          <a:endParaRPr lang="en-IN"/>
        </a:p>
      </dgm:t>
    </dgm:pt>
    <dgm:pt modelId="{D7EB6472-6137-48A2-8F5B-845B142CC7F7}" type="sibTrans" cxnId="{7AC1653C-5955-40D8-B90C-3C0FCA7A53EB}">
      <dgm:prSet/>
      <dgm:spPr/>
      <dgm:t>
        <a:bodyPr/>
        <a:lstStyle/>
        <a:p>
          <a:endParaRPr lang="en-IN"/>
        </a:p>
      </dgm:t>
    </dgm:pt>
    <dgm:pt modelId="{F01F8C8A-166A-4140-B125-F8699F4A57D9}" type="pres">
      <dgm:prSet presAssocID="{D363A25E-EA0F-46FF-820A-49CAC01D2DDB}" presName="linearFlow" presStyleCnt="0">
        <dgm:presLayoutVars>
          <dgm:dir/>
          <dgm:animLvl val="lvl"/>
          <dgm:resizeHandles val="exact"/>
        </dgm:presLayoutVars>
      </dgm:prSet>
      <dgm:spPr/>
    </dgm:pt>
    <dgm:pt modelId="{69BA5EA6-8696-4522-8E3D-DD31E14436E7}" type="pres">
      <dgm:prSet presAssocID="{E3071FFB-BC15-4E68-8FA5-8C19E352A939}" presName="composite" presStyleCnt="0"/>
      <dgm:spPr/>
    </dgm:pt>
    <dgm:pt modelId="{EB3476BF-883D-412C-90E2-8C37D279169C}" type="pres">
      <dgm:prSet presAssocID="{E3071FFB-BC15-4E68-8FA5-8C19E352A939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E4B0879-7107-4676-A495-2B799A5832D3}" type="pres">
      <dgm:prSet presAssocID="{E3071FFB-BC15-4E68-8FA5-8C19E352A939}" presName="parSh" presStyleLbl="node1" presStyleIdx="0" presStyleCnt="3"/>
      <dgm:spPr/>
    </dgm:pt>
    <dgm:pt modelId="{BD734B9F-CB04-4B38-9779-3E5348E08D3F}" type="pres">
      <dgm:prSet presAssocID="{E3071FFB-BC15-4E68-8FA5-8C19E352A939}" presName="desTx" presStyleLbl="fgAcc1" presStyleIdx="0" presStyleCnt="3">
        <dgm:presLayoutVars>
          <dgm:bulletEnabled val="1"/>
        </dgm:presLayoutVars>
      </dgm:prSet>
      <dgm:spPr/>
    </dgm:pt>
    <dgm:pt modelId="{8C671F19-33B9-4A37-98F4-A04BA7F88879}" type="pres">
      <dgm:prSet presAssocID="{3C401304-0514-4D7C-923F-648C57AE2B6D}" presName="sibTrans" presStyleLbl="sibTrans2D1" presStyleIdx="0" presStyleCnt="2"/>
      <dgm:spPr/>
    </dgm:pt>
    <dgm:pt modelId="{1BD739E3-F3A4-4189-90AD-C71DB1B48825}" type="pres">
      <dgm:prSet presAssocID="{3C401304-0514-4D7C-923F-648C57AE2B6D}" presName="connTx" presStyleLbl="sibTrans2D1" presStyleIdx="0" presStyleCnt="2"/>
      <dgm:spPr/>
    </dgm:pt>
    <dgm:pt modelId="{16039CFD-2F21-42CE-9845-61C42C4FB546}" type="pres">
      <dgm:prSet presAssocID="{C0767BCD-352B-49E1-B487-A6F4D07C154F}" presName="composite" presStyleCnt="0"/>
      <dgm:spPr/>
    </dgm:pt>
    <dgm:pt modelId="{B76305FC-1BA0-47E7-A46A-B1E19F1E0F29}" type="pres">
      <dgm:prSet presAssocID="{C0767BCD-352B-49E1-B487-A6F4D07C154F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59D8E1D-09E8-41F6-B8E5-CF2516C889FB}" type="pres">
      <dgm:prSet presAssocID="{C0767BCD-352B-49E1-B487-A6F4D07C154F}" presName="parSh" presStyleLbl="node1" presStyleIdx="1" presStyleCnt="3"/>
      <dgm:spPr/>
    </dgm:pt>
    <dgm:pt modelId="{EBEBA147-2290-4C26-A362-0316296BC989}" type="pres">
      <dgm:prSet presAssocID="{C0767BCD-352B-49E1-B487-A6F4D07C154F}" presName="desTx" presStyleLbl="fgAcc1" presStyleIdx="1" presStyleCnt="3">
        <dgm:presLayoutVars>
          <dgm:bulletEnabled val="1"/>
        </dgm:presLayoutVars>
      </dgm:prSet>
      <dgm:spPr/>
    </dgm:pt>
    <dgm:pt modelId="{9F27D3F8-61E9-4ADD-A642-8DE0694BCFD1}" type="pres">
      <dgm:prSet presAssocID="{F9584483-EDF8-4FDE-98C6-2D99CEA7C2C2}" presName="sibTrans" presStyleLbl="sibTrans2D1" presStyleIdx="1" presStyleCnt="2"/>
      <dgm:spPr/>
    </dgm:pt>
    <dgm:pt modelId="{8CEE302E-88D8-4F6D-85CA-771F9D8B4863}" type="pres">
      <dgm:prSet presAssocID="{F9584483-EDF8-4FDE-98C6-2D99CEA7C2C2}" presName="connTx" presStyleLbl="sibTrans2D1" presStyleIdx="1" presStyleCnt="2"/>
      <dgm:spPr/>
    </dgm:pt>
    <dgm:pt modelId="{AEC2C9D7-CF77-414B-903D-65244690DE01}" type="pres">
      <dgm:prSet presAssocID="{FFA6549E-3431-4A32-9987-8483F49867AD}" presName="composite" presStyleCnt="0"/>
      <dgm:spPr/>
    </dgm:pt>
    <dgm:pt modelId="{C146D074-4AD7-4736-B366-587943629C20}" type="pres">
      <dgm:prSet presAssocID="{FFA6549E-3431-4A32-9987-8483F49867A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B9F90BD-0267-4907-B62E-A89A330844C0}" type="pres">
      <dgm:prSet presAssocID="{FFA6549E-3431-4A32-9987-8483F49867AD}" presName="parSh" presStyleLbl="node1" presStyleIdx="2" presStyleCnt="3"/>
      <dgm:spPr/>
    </dgm:pt>
    <dgm:pt modelId="{7A8CD8BB-A187-4B21-B145-8756D9CF20AC}" type="pres">
      <dgm:prSet presAssocID="{FFA6549E-3431-4A32-9987-8483F49867A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55C1C81F-F0CF-424F-AC7F-8EF25D44A267}" srcId="{D363A25E-EA0F-46FF-820A-49CAC01D2DDB}" destId="{E3071FFB-BC15-4E68-8FA5-8C19E352A939}" srcOrd="0" destOrd="0" parTransId="{11C8E053-B539-498C-90DA-10B7483FADE8}" sibTransId="{3C401304-0514-4D7C-923F-648C57AE2B6D}"/>
    <dgm:cxn modelId="{335A6C21-DB99-4584-AE43-DA1E9DA185CD}" type="presOf" srcId="{1CF1DF9B-EFA6-4EA8-8BF9-8B5FF0219282}" destId="{EBEBA147-2290-4C26-A362-0316296BC989}" srcOrd="0" destOrd="6" presId="urn:microsoft.com/office/officeart/2005/8/layout/process3"/>
    <dgm:cxn modelId="{6F76732C-2536-4B53-8DA7-F09D30B7A465}" type="presOf" srcId="{3032CB65-60A0-41C0-A4A2-DE6A24BB49D0}" destId="{7A8CD8BB-A187-4B21-B145-8756D9CF20AC}" srcOrd="0" destOrd="1" presId="urn:microsoft.com/office/officeart/2005/8/layout/process3"/>
    <dgm:cxn modelId="{7F2B822D-4F1C-4781-ACE7-F2718118DD44}" type="presOf" srcId="{FFA6549E-3431-4A32-9987-8483F49867AD}" destId="{C146D074-4AD7-4736-B366-587943629C20}" srcOrd="0" destOrd="0" presId="urn:microsoft.com/office/officeart/2005/8/layout/process3"/>
    <dgm:cxn modelId="{FB111F30-1597-4585-8EDC-5AB70DB67ECB}" type="presOf" srcId="{AC295905-C915-4688-BE16-CAF498B3D56F}" destId="{EBEBA147-2290-4C26-A362-0316296BC989}" srcOrd="0" destOrd="0" presId="urn:microsoft.com/office/officeart/2005/8/layout/process3"/>
    <dgm:cxn modelId="{BA109F32-94F1-43FF-B616-5A27A854301E}" type="presOf" srcId="{F9584483-EDF8-4FDE-98C6-2D99CEA7C2C2}" destId="{9F27D3F8-61E9-4ADD-A642-8DE0694BCFD1}" srcOrd="0" destOrd="0" presId="urn:microsoft.com/office/officeart/2005/8/layout/process3"/>
    <dgm:cxn modelId="{904C9C36-6095-4465-8FF8-E3CFC5D62894}" type="presOf" srcId="{5B203DF4-6808-4A2F-B459-7A84D26647C4}" destId="{BD734B9F-CB04-4B38-9779-3E5348E08D3F}" srcOrd="0" destOrd="1" presId="urn:microsoft.com/office/officeart/2005/8/layout/process3"/>
    <dgm:cxn modelId="{2992B736-AD46-48CC-A1D0-91C4FFD2B21C}" type="presOf" srcId="{C0767BCD-352B-49E1-B487-A6F4D07C154F}" destId="{B76305FC-1BA0-47E7-A46A-B1E19F1E0F29}" srcOrd="0" destOrd="0" presId="urn:microsoft.com/office/officeart/2005/8/layout/process3"/>
    <dgm:cxn modelId="{7AC1653C-5955-40D8-B90C-3C0FCA7A53EB}" srcId="{2E93DA41-F6B9-4DA8-8414-3821ADBEBBD0}" destId="{FF1B3B13-F447-46D3-9CE4-24430AFD7ADB}" srcOrd="3" destOrd="0" parTransId="{7CBD462F-961E-4269-8851-152013076F16}" sibTransId="{D7EB6472-6137-48A2-8F5B-845B142CC7F7}"/>
    <dgm:cxn modelId="{E7CAB73F-B10B-4887-91D0-1D5B2C37EC21}" type="presOf" srcId="{02B6526C-C3EB-4B9B-80A2-E757C2ED298F}" destId="{EBEBA147-2290-4C26-A362-0316296BC989}" srcOrd="0" destOrd="3" presId="urn:microsoft.com/office/officeart/2005/8/layout/process3"/>
    <dgm:cxn modelId="{83347866-F98C-4DD9-B423-371A3860CD75}" type="presOf" srcId="{3C401304-0514-4D7C-923F-648C57AE2B6D}" destId="{8C671F19-33B9-4A37-98F4-A04BA7F88879}" srcOrd="0" destOrd="0" presId="urn:microsoft.com/office/officeart/2005/8/layout/process3"/>
    <dgm:cxn modelId="{20BC1247-3612-4CCA-B060-B84CE8147847}" type="presOf" srcId="{4656B11B-FEC0-415F-9FF1-C89FA194D3D4}" destId="{EBEBA147-2290-4C26-A362-0316296BC989}" srcOrd="0" destOrd="4" presId="urn:microsoft.com/office/officeart/2005/8/layout/process3"/>
    <dgm:cxn modelId="{65EA8C4D-0875-4675-B628-B175773710CA}" type="presOf" srcId="{9E942AF6-4375-4BF6-90A3-14ACEC0E8883}" destId="{7A8CD8BB-A187-4B21-B145-8756D9CF20AC}" srcOrd="0" destOrd="0" presId="urn:microsoft.com/office/officeart/2005/8/layout/process3"/>
    <dgm:cxn modelId="{74851D4F-7079-47ED-8EDD-7DB466948AA5}" srcId="{FFA6549E-3431-4A32-9987-8483F49867AD}" destId="{9E942AF6-4375-4BF6-90A3-14ACEC0E8883}" srcOrd="0" destOrd="0" parTransId="{E38E32F1-B2FF-4999-B7E9-0854830387EB}" sibTransId="{685E388B-F993-4711-BEFA-C6D55795BC20}"/>
    <dgm:cxn modelId="{06B0C474-775A-4715-963B-C318C09CA419}" srcId="{E3071FFB-BC15-4E68-8FA5-8C19E352A939}" destId="{FB171491-00DC-419D-8F5F-0B1E30A46362}" srcOrd="3" destOrd="0" parTransId="{BC17A3A5-F844-412E-A862-9FDE9F9D02F6}" sibTransId="{C9A2E275-FEC4-48A3-B3C2-4DEF69382D55}"/>
    <dgm:cxn modelId="{953DCE58-A020-47E0-AFB6-093C44B1A818}" srcId="{C0767BCD-352B-49E1-B487-A6F4D07C154F}" destId="{AC295905-C915-4688-BE16-CAF498B3D56F}" srcOrd="0" destOrd="0" parTransId="{FB74C3F0-F741-4CBD-8504-58AC965FE6CA}" sibTransId="{28D49141-B077-49EF-B307-2571B61C80A8}"/>
    <dgm:cxn modelId="{1AD46F59-399B-4CC5-AE8C-44E2DC4113C6}" srcId="{D363A25E-EA0F-46FF-820A-49CAC01D2DDB}" destId="{FFA6549E-3431-4A32-9987-8483F49867AD}" srcOrd="2" destOrd="0" parTransId="{CA34C771-FB2C-4C64-AFA1-52601435AC61}" sibTransId="{DA423775-EE22-4C8A-8E8A-9A865CDB4E75}"/>
    <dgm:cxn modelId="{44E6657A-6026-473F-B4F7-9F919417C49E}" srcId="{D363A25E-EA0F-46FF-820A-49CAC01D2DDB}" destId="{C0767BCD-352B-49E1-B487-A6F4D07C154F}" srcOrd="1" destOrd="0" parTransId="{DB9F4EAC-5882-4D29-B231-0877C075A502}" sibTransId="{F9584483-EDF8-4FDE-98C6-2D99CEA7C2C2}"/>
    <dgm:cxn modelId="{829A487A-90FE-4F52-8EA1-DC4564C29C8B}" type="presOf" srcId="{2A0A0094-CFEA-4238-A6EA-C12B9542B3D5}" destId="{EBEBA147-2290-4C26-A362-0316296BC989}" srcOrd="0" destOrd="2" presId="urn:microsoft.com/office/officeart/2005/8/layout/process3"/>
    <dgm:cxn modelId="{1D32B77B-BD49-4CE9-A50C-F7C292788D8E}" srcId="{FFA6549E-3431-4A32-9987-8483F49867AD}" destId="{3032CB65-60A0-41C0-A4A2-DE6A24BB49D0}" srcOrd="1" destOrd="0" parTransId="{70E8050C-6A22-4BE5-8D91-EDBCF619EFC5}" sibTransId="{6EA7DA0A-9679-4C8A-B521-DEB1A576054C}"/>
    <dgm:cxn modelId="{C955EF85-1C8B-4BB2-9075-F362F73AEF97}" type="presOf" srcId="{FF1B3B13-F447-46D3-9CE4-24430AFD7ADB}" destId="{EBEBA147-2290-4C26-A362-0316296BC989}" srcOrd="0" destOrd="5" presId="urn:microsoft.com/office/officeart/2005/8/layout/process3"/>
    <dgm:cxn modelId="{EE3D698C-4A8C-4B4F-B0ED-A67D39CED3B0}" type="presOf" srcId="{D363A25E-EA0F-46FF-820A-49CAC01D2DDB}" destId="{F01F8C8A-166A-4140-B125-F8699F4A57D9}" srcOrd="0" destOrd="0" presId="urn:microsoft.com/office/officeart/2005/8/layout/process3"/>
    <dgm:cxn modelId="{BA1F868C-31DF-401C-93A8-DBBA21995128}" type="presOf" srcId="{3C401304-0514-4D7C-923F-648C57AE2B6D}" destId="{1BD739E3-F3A4-4189-90AD-C71DB1B48825}" srcOrd="1" destOrd="0" presId="urn:microsoft.com/office/officeart/2005/8/layout/process3"/>
    <dgm:cxn modelId="{BA658495-A982-4827-A0A0-41C2CCEEA0D4}" srcId="{E3071FFB-BC15-4E68-8FA5-8C19E352A939}" destId="{76366501-0B07-4B33-B426-0CF1649676D3}" srcOrd="2" destOrd="0" parTransId="{A3A67583-18DD-456C-9D8A-885DCD828B7F}" sibTransId="{942091D2-2094-4EBA-B3BD-B81649630353}"/>
    <dgm:cxn modelId="{9810BE97-FD4D-4216-8028-A9D7A4407015}" type="presOf" srcId="{FB171491-00DC-419D-8F5F-0B1E30A46362}" destId="{BD734B9F-CB04-4B38-9779-3E5348E08D3F}" srcOrd="0" destOrd="3" presId="urn:microsoft.com/office/officeart/2005/8/layout/process3"/>
    <dgm:cxn modelId="{5A1A3B99-2996-4F31-BEA4-46C0FAA953BD}" type="presOf" srcId="{E3071FFB-BC15-4E68-8FA5-8C19E352A939}" destId="{EB3476BF-883D-412C-90E2-8C37D279169C}" srcOrd="0" destOrd="0" presId="urn:microsoft.com/office/officeart/2005/8/layout/process3"/>
    <dgm:cxn modelId="{8320759A-337A-4392-922D-92B5D02F46E7}" type="presOf" srcId="{2E93DA41-F6B9-4DA8-8414-3821ADBEBBD0}" destId="{EBEBA147-2290-4C26-A362-0316296BC989}" srcOrd="0" destOrd="1" presId="urn:microsoft.com/office/officeart/2005/8/layout/process3"/>
    <dgm:cxn modelId="{420D4FA6-DA28-4C87-81B1-30A96FB48506}" type="presOf" srcId="{C0767BCD-352B-49E1-B487-A6F4D07C154F}" destId="{E59D8E1D-09E8-41F6-B8E5-CF2516C889FB}" srcOrd="1" destOrd="0" presId="urn:microsoft.com/office/officeart/2005/8/layout/process3"/>
    <dgm:cxn modelId="{0120E9AC-7BD6-4758-B5A2-BC635DBE60AA}" type="presOf" srcId="{20A48A6A-6491-48B9-A419-5369FC81F65D}" destId="{BD734B9F-CB04-4B38-9779-3E5348E08D3F}" srcOrd="0" destOrd="0" presId="urn:microsoft.com/office/officeart/2005/8/layout/process3"/>
    <dgm:cxn modelId="{4893AFB5-89FA-41FC-A396-78F612D7F2D8}" srcId="{C0767BCD-352B-49E1-B487-A6F4D07C154F}" destId="{2E93DA41-F6B9-4DA8-8414-3821ADBEBBD0}" srcOrd="1" destOrd="0" parTransId="{D7DDA50F-8849-42EE-A11F-0E6086DD1C6F}" sibTransId="{9328ABF5-E514-4248-8B34-1E6C65ADA6F2}"/>
    <dgm:cxn modelId="{7812B4BC-DCD9-476B-B7B6-4EEBD888A9C1}" type="presOf" srcId="{FFA6549E-3431-4A32-9987-8483F49867AD}" destId="{0B9F90BD-0267-4907-B62E-A89A330844C0}" srcOrd="1" destOrd="0" presId="urn:microsoft.com/office/officeart/2005/8/layout/process3"/>
    <dgm:cxn modelId="{4796B4BD-72B2-4C0E-B6E2-A0491E6C7AAF}" srcId="{FFA6549E-3431-4A32-9987-8483F49867AD}" destId="{166FE4D1-236A-43E7-8046-7BD4DAA7D414}" srcOrd="2" destOrd="0" parTransId="{F0EA4CE4-B34B-43F8-A2FB-AC5BFDDCA1DB}" sibTransId="{C873897F-D663-4B1D-9C52-8FC2E9D7D315}"/>
    <dgm:cxn modelId="{EB5D24BE-8111-4434-B7E3-95D820BEE3A9}" srcId="{E3071FFB-BC15-4E68-8FA5-8C19E352A939}" destId="{20A48A6A-6491-48B9-A419-5369FC81F65D}" srcOrd="0" destOrd="0" parTransId="{D9671134-0E4B-42A4-B9E0-5BD45717F030}" sibTransId="{F094DB40-9B58-4BF2-8B41-746B1DFEF3B0}"/>
    <dgm:cxn modelId="{9082F0BF-2966-4A8A-A884-F855A480FD3A}" srcId="{2E93DA41-F6B9-4DA8-8414-3821ADBEBBD0}" destId="{2A0A0094-CFEA-4238-A6EA-C12B9542B3D5}" srcOrd="0" destOrd="0" parTransId="{4D7F5A5F-C338-461C-806A-A24396B77490}" sibTransId="{D932C0A9-ED8E-4FAA-8B3B-8DDE37936D3F}"/>
    <dgm:cxn modelId="{9475ECC7-A5C4-4382-84C1-FAE5FACF9C7F}" srcId="{FFA6549E-3431-4A32-9987-8483F49867AD}" destId="{CDB9DD31-68BA-4F95-8D90-9434CBBBA763}" srcOrd="3" destOrd="0" parTransId="{8CC92D01-BC4F-42E3-AF43-DF0B213233E4}" sibTransId="{73706F27-5226-476B-A3A5-FBD3F42F6B84}"/>
    <dgm:cxn modelId="{93148FC8-C48C-44DC-ACA4-970A6F13255D}" type="presOf" srcId="{CDB9DD31-68BA-4F95-8D90-9434CBBBA763}" destId="{7A8CD8BB-A187-4B21-B145-8756D9CF20AC}" srcOrd="0" destOrd="3" presId="urn:microsoft.com/office/officeart/2005/8/layout/process3"/>
    <dgm:cxn modelId="{3BE9E2C8-4B64-4E28-A483-9E1394E26EB2}" type="presOf" srcId="{76366501-0B07-4B33-B426-0CF1649676D3}" destId="{BD734B9F-CB04-4B38-9779-3E5348E08D3F}" srcOrd="0" destOrd="2" presId="urn:microsoft.com/office/officeart/2005/8/layout/process3"/>
    <dgm:cxn modelId="{877156CB-7CF9-4F2A-99D4-1A4C2ED4603B}" type="presOf" srcId="{E3071FFB-BC15-4E68-8FA5-8C19E352A939}" destId="{FE4B0879-7107-4676-A495-2B799A5832D3}" srcOrd="1" destOrd="0" presId="urn:microsoft.com/office/officeart/2005/8/layout/process3"/>
    <dgm:cxn modelId="{6896C3CD-7B72-43E3-8C69-57F723CC51F7}" type="presOf" srcId="{F9584483-EDF8-4FDE-98C6-2D99CEA7C2C2}" destId="{8CEE302E-88D8-4F6D-85CA-771F9D8B4863}" srcOrd="1" destOrd="0" presId="urn:microsoft.com/office/officeart/2005/8/layout/process3"/>
    <dgm:cxn modelId="{B1DD56D6-2FEB-41AA-AB2E-7440439FB6F9}" srcId="{2E93DA41-F6B9-4DA8-8414-3821ADBEBBD0}" destId="{4656B11B-FEC0-415F-9FF1-C89FA194D3D4}" srcOrd="2" destOrd="0" parTransId="{B6406983-B143-48A8-B677-93B1169BA10A}" sibTransId="{6D128428-170A-4F22-B443-199B9AB18AD5}"/>
    <dgm:cxn modelId="{136D32D7-9B64-4C81-9EA2-F1F6F3E9B8E2}" srcId="{2E93DA41-F6B9-4DA8-8414-3821ADBEBBD0}" destId="{02B6526C-C3EB-4B9B-80A2-E757C2ED298F}" srcOrd="1" destOrd="0" parTransId="{1815D1DE-4063-4A07-8B4C-A85C369303A9}" sibTransId="{4698A68D-F22C-4FE9-86B6-08A24EFD77E8}"/>
    <dgm:cxn modelId="{AE2910DB-3032-4DF0-A2C7-721FFC269205}" srcId="{E3071FFB-BC15-4E68-8FA5-8C19E352A939}" destId="{5B203DF4-6808-4A2F-B459-7A84D26647C4}" srcOrd="1" destOrd="0" parTransId="{AA2AB030-1581-48AD-B9D8-75DDDEF3B686}" sibTransId="{862901BB-74B5-4480-B3A3-72056764EBFE}"/>
    <dgm:cxn modelId="{1EA9DAE7-FC3F-483E-9BD5-A08FBFC6F6C3}" type="presOf" srcId="{166FE4D1-236A-43E7-8046-7BD4DAA7D414}" destId="{7A8CD8BB-A187-4B21-B145-8756D9CF20AC}" srcOrd="0" destOrd="2" presId="urn:microsoft.com/office/officeart/2005/8/layout/process3"/>
    <dgm:cxn modelId="{03A498FE-222F-4C38-BF96-1E4CD9908D20}" srcId="{C0767BCD-352B-49E1-B487-A6F4D07C154F}" destId="{1CF1DF9B-EFA6-4EA8-8BF9-8B5FF0219282}" srcOrd="2" destOrd="0" parTransId="{DD629615-B9E5-4624-A70A-BE77C25A25DD}" sibTransId="{FA0A1637-292D-4A84-A572-B8CFB77BD15A}"/>
    <dgm:cxn modelId="{E5A70A23-C8DA-4DE8-BE7F-66363678EBE7}" type="presParOf" srcId="{F01F8C8A-166A-4140-B125-F8699F4A57D9}" destId="{69BA5EA6-8696-4522-8E3D-DD31E14436E7}" srcOrd="0" destOrd="0" presId="urn:microsoft.com/office/officeart/2005/8/layout/process3"/>
    <dgm:cxn modelId="{C83B397B-2466-4401-9B10-1A5D42EF82AD}" type="presParOf" srcId="{69BA5EA6-8696-4522-8E3D-DD31E14436E7}" destId="{EB3476BF-883D-412C-90E2-8C37D279169C}" srcOrd="0" destOrd="0" presId="urn:microsoft.com/office/officeart/2005/8/layout/process3"/>
    <dgm:cxn modelId="{D771DD34-CB33-4E5B-BFAA-702AC6FDC99E}" type="presParOf" srcId="{69BA5EA6-8696-4522-8E3D-DD31E14436E7}" destId="{FE4B0879-7107-4676-A495-2B799A5832D3}" srcOrd="1" destOrd="0" presId="urn:microsoft.com/office/officeart/2005/8/layout/process3"/>
    <dgm:cxn modelId="{2AF78269-02F0-4D8C-9F2A-D21D80826991}" type="presParOf" srcId="{69BA5EA6-8696-4522-8E3D-DD31E14436E7}" destId="{BD734B9F-CB04-4B38-9779-3E5348E08D3F}" srcOrd="2" destOrd="0" presId="urn:microsoft.com/office/officeart/2005/8/layout/process3"/>
    <dgm:cxn modelId="{BAE892E7-28DD-4644-9CC4-BEFEC51BA44E}" type="presParOf" srcId="{F01F8C8A-166A-4140-B125-F8699F4A57D9}" destId="{8C671F19-33B9-4A37-98F4-A04BA7F88879}" srcOrd="1" destOrd="0" presId="urn:microsoft.com/office/officeart/2005/8/layout/process3"/>
    <dgm:cxn modelId="{FACB8ED8-CF86-4ED5-A66B-50FCC733CB28}" type="presParOf" srcId="{8C671F19-33B9-4A37-98F4-A04BA7F88879}" destId="{1BD739E3-F3A4-4189-90AD-C71DB1B48825}" srcOrd="0" destOrd="0" presId="urn:microsoft.com/office/officeart/2005/8/layout/process3"/>
    <dgm:cxn modelId="{7534B0AF-C8C7-49A3-B311-FFE38E9B63E2}" type="presParOf" srcId="{F01F8C8A-166A-4140-B125-F8699F4A57D9}" destId="{16039CFD-2F21-42CE-9845-61C42C4FB546}" srcOrd="2" destOrd="0" presId="urn:microsoft.com/office/officeart/2005/8/layout/process3"/>
    <dgm:cxn modelId="{310E90F0-5101-472C-9F6A-16507F7F996D}" type="presParOf" srcId="{16039CFD-2F21-42CE-9845-61C42C4FB546}" destId="{B76305FC-1BA0-47E7-A46A-B1E19F1E0F29}" srcOrd="0" destOrd="0" presId="urn:microsoft.com/office/officeart/2005/8/layout/process3"/>
    <dgm:cxn modelId="{1F542B3A-6FCE-45D5-BB79-4370077D4953}" type="presParOf" srcId="{16039CFD-2F21-42CE-9845-61C42C4FB546}" destId="{E59D8E1D-09E8-41F6-B8E5-CF2516C889FB}" srcOrd="1" destOrd="0" presId="urn:microsoft.com/office/officeart/2005/8/layout/process3"/>
    <dgm:cxn modelId="{256D6A68-83E2-4CEA-9153-91080AC6C663}" type="presParOf" srcId="{16039CFD-2F21-42CE-9845-61C42C4FB546}" destId="{EBEBA147-2290-4C26-A362-0316296BC989}" srcOrd="2" destOrd="0" presId="urn:microsoft.com/office/officeart/2005/8/layout/process3"/>
    <dgm:cxn modelId="{7CB6B9AE-5EFF-4E21-94EE-49049B181E87}" type="presParOf" srcId="{F01F8C8A-166A-4140-B125-F8699F4A57D9}" destId="{9F27D3F8-61E9-4ADD-A642-8DE0694BCFD1}" srcOrd="3" destOrd="0" presId="urn:microsoft.com/office/officeart/2005/8/layout/process3"/>
    <dgm:cxn modelId="{828F464F-1A59-4DE9-9DFE-69693545BEB2}" type="presParOf" srcId="{9F27D3F8-61E9-4ADD-A642-8DE0694BCFD1}" destId="{8CEE302E-88D8-4F6D-85CA-771F9D8B4863}" srcOrd="0" destOrd="0" presId="urn:microsoft.com/office/officeart/2005/8/layout/process3"/>
    <dgm:cxn modelId="{8AD3C3A8-A4B8-4C2D-ABC3-744375E1476D}" type="presParOf" srcId="{F01F8C8A-166A-4140-B125-F8699F4A57D9}" destId="{AEC2C9D7-CF77-414B-903D-65244690DE01}" srcOrd="4" destOrd="0" presId="urn:microsoft.com/office/officeart/2005/8/layout/process3"/>
    <dgm:cxn modelId="{6517D45B-2CB4-4DAD-8F5A-00A1AEC8A443}" type="presParOf" srcId="{AEC2C9D7-CF77-414B-903D-65244690DE01}" destId="{C146D074-4AD7-4736-B366-587943629C20}" srcOrd="0" destOrd="0" presId="urn:microsoft.com/office/officeart/2005/8/layout/process3"/>
    <dgm:cxn modelId="{7285336D-7BF4-4250-8C9A-EF91FA4AA892}" type="presParOf" srcId="{AEC2C9D7-CF77-414B-903D-65244690DE01}" destId="{0B9F90BD-0267-4907-B62E-A89A330844C0}" srcOrd="1" destOrd="0" presId="urn:microsoft.com/office/officeart/2005/8/layout/process3"/>
    <dgm:cxn modelId="{4BD19AC7-2E09-4BDC-A5E1-A3DD1E29F3A7}" type="presParOf" srcId="{AEC2C9D7-CF77-414B-903D-65244690DE01}" destId="{7A8CD8BB-A187-4B21-B145-8756D9CF20AC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B0879-7107-4676-A495-2B799A5832D3}">
      <dsp:nvSpPr>
        <dsp:cNvPr id="0" name=""/>
        <dsp:cNvSpPr/>
      </dsp:nvSpPr>
      <dsp:spPr>
        <a:xfrm>
          <a:off x="5457" y="86506"/>
          <a:ext cx="2481417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Understanding the Data</a:t>
          </a:r>
        </a:p>
      </dsp:txBody>
      <dsp:txXfrm>
        <a:off x="5457" y="86506"/>
        <a:ext cx="2481417" cy="403200"/>
      </dsp:txXfrm>
    </dsp:sp>
    <dsp:sp modelId="{BD734B9F-CB04-4B38-9779-3E5348E08D3F}">
      <dsp:nvSpPr>
        <dsp:cNvPr id="0" name=""/>
        <dsp:cNvSpPr/>
      </dsp:nvSpPr>
      <dsp:spPr>
        <a:xfrm>
          <a:off x="513699" y="489706"/>
          <a:ext cx="2481417" cy="43659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Loaded all 307,511 apps + 58M records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Profiled data quality - found missing values, understood distributions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Mapped relationships between 7 different data tables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Identified our target: 8.07% default rate (24,825 defaults)</a:t>
          </a:r>
          <a:endParaRPr lang="en-IN" sz="1400" kern="1200" dirty="0"/>
        </a:p>
      </dsp:txBody>
      <dsp:txXfrm>
        <a:off x="586377" y="562384"/>
        <a:ext cx="2336061" cy="4220544"/>
      </dsp:txXfrm>
    </dsp:sp>
    <dsp:sp modelId="{8C671F19-33B9-4A37-98F4-A04BA7F88879}">
      <dsp:nvSpPr>
        <dsp:cNvPr id="0" name=""/>
        <dsp:cNvSpPr/>
      </dsp:nvSpPr>
      <dsp:spPr>
        <a:xfrm>
          <a:off x="2863048" y="-20793"/>
          <a:ext cx="797488" cy="617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863048" y="102767"/>
        <a:ext cx="612148" cy="370681"/>
      </dsp:txXfrm>
    </dsp:sp>
    <dsp:sp modelId="{E59D8E1D-09E8-41F6-B8E5-CF2516C889FB}">
      <dsp:nvSpPr>
        <dsp:cNvPr id="0" name=""/>
        <dsp:cNvSpPr/>
      </dsp:nvSpPr>
      <dsp:spPr>
        <a:xfrm>
          <a:off x="3991569" y="86506"/>
          <a:ext cx="2481417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Finding Patterns</a:t>
          </a:r>
        </a:p>
      </dsp:txBody>
      <dsp:txXfrm>
        <a:off x="3991569" y="86506"/>
        <a:ext cx="2481417" cy="403200"/>
      </dsp:txXfrm>
    </dsp:sp>
    <dsp:sp modelId="{EBEBA147-2290-4C26-A362-0316296BC989}">
      <dsp:nvSpPr>
        <dsp:cNvPr id="0" name=""/>
        <dsp:cNvSpPr/>
      </dsp:nvSpPr>
      <dsp:spPr>
        <a:xfrm>
          <a:off x="4499811" y="489706"/>
          <a:ext cx="2481417" cy="43659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Created 10 professional visualizations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Analysed patterns across: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Demographics (age, education, gender)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Financial behavior (income, credit, leverage)</a:t>
          </a:r>
          <a:endParaRPr lang="en-IN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Payment behavior (timing, regularity, amounts)</a:t>
          </a:r>
          <a:endParaRPr lang="en-IN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Geographic factors (region, housing, employment)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Ran statistical tests to validate findings</a:t>
          </a:r>
          <a:endParaRPr lang="en-IN" sz="1400" kern="1200" dirty="0"/>
        </a:p>
      </dsp:txBody>
      <dsp:txXfrm>
        <a:off x="4572489" y="562384"/>
        <a:ext cx="2336061" cy="4220544"/>
      </dsp:txXfrm>
    </dsp:sp>
    <dsp:sp modelId="{9F27D3F8-61E9-4ADD-A642-8DE0694BCFD1}">
      <dsp:nvSpPr>
        <dsp:cNvPr id="0" name=""/>
        <dsp:cNvSpPr/>
      </dsp:nvSpPr>
      <dsp:spPr>
        <a:xfrm>
          <a:off x="6849160" y="-20793"/>
          <a:ext cx="797488" cy="617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6849160" y="102767"/>
        <a:ext cx="612148" cy="370681"/>
      </dsp:txXfrm>
    </dsp:sp>
    <dsp:sp modelId="{0B9F90BD-0267-4907-B62E-A89A330844C0}">
      <dsp:nvSpPr>
        <dsp:cNvPr id="0" name=""/>
        <dsp:cNvSpPr/>
      </dsp:nvSpPr>
      <dsp:spPr>
        <a:xfrm>
          <a:off x="7977682" y="86506"/>
          <a:ext cx="2481417" cy="604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Generating Insights</a:t>
          </a:r>
        </a:p>
      </dsp:txBody>
      <dsp:txXfrm>
        <a:off x="7977682" y="86506"/>
        <a:ext cx="2481417" cy="403200"/>
      </dsp:txXfrm>
    </dsp:sp>
    <dsp:sp modelId="{7A8CD8BB-A187-4B21-B145-8756D9CF20AC}">
      <dsp:nvSpPr>
        <dsp:cNvPr id="0" name=""/>
        <dsp:cNvSpPr/>
      </dsp:nvSpPr>
      <dsp:spPr>
        <a:xfrm>
          <a:off x="8485924" y="489706"/>
          <a:ext cx="2481417" cy="43659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Identified top predictive features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Validated that alternative data actually works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Found key patterns that will drive our model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Documented everything (12 detailed reports)</a:t>
          </a:r>
          <a:endParaRPr lang="en-IN" sz="1400" kern="1200" dirty="0"/>
        </a:p>
      </dsp:txBody>
      <dsp:txXfrm>
        <a:off x="8558602" y="562384"/>
        <a:ext cx="2336061" cy="4220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" y="5583238"/>
            <a:ext cx="12170834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1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67301" y="6291263"/>
            <a:ext cx="46679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i="1" dirty="0">
                <a:latin typeface="+mn-lt"/>
                <a:ea typeface="+mn-ea"/>
              </a:rPr>
              <a:t>v 1.0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4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 descr="ba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568950"/>
            <a:ext cx="12189884" cy="128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0" y="6213476"/>
            <a:ext cx="914400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eaLnBrk="1" hangingPunct="1"/>
            <a:fld id="{F58D6FC1-2522-4DB7-B0E2-DA501C2B1CB3}" type="slidenum">
              <a:rPr lang="en-US" altLang="en-US" sz="1600" b="1">
                <a:solidFill>
                  <a:schemeClr val="accent2"/>
                </a:solidFill>
                <a:latin typeface="Calibri" pitchFamily="34" charset="0"/>
                <a:cs typeface="Arial" charset="0"/>
              </a:rPr>
              <a:pPr algn="ctr" eaLnBrk="1" hangingPunct="1"/>
              <a:t>‹#›</a:t>
            </a:fld>
            <a:endParaRPr lang="en-US" altLang="en-US" b="1">
              <a:solidFill>
                <a:schemeClr val="accent2"/>
              </a:solidFill>
              <a:latin typeface="Calibri" pitchFamily="34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8538-A683-1BC5-2A27-84FE8CF9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137319"/>
            <a:ext cx="10972800" cy="7921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Google Shape;70;p2">
            <a:extLst>
              <a:ext uri="{FF2B5EF4-FFF2-40B4-BE49-F238E27FC236}">
                <a16:creationId xmlns:a16="http://schemas.microsoft.com/office/drawing/2014/main" id="{44559737-0FF3-7BF0-22B8-4BA1E119B1F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C630D9-500C-3E85-93FD-99DE9168042A}"/>
              </a:ext>
            </a:extLst>
          </p:cNvPr>
          <p:cNvSpPr txBox="1">
            <a:spLocks/>
          </p:cNvSpPr>
          <p:nvPr/>
        </p:nvSpPr>
        <p:spPr bwMode="auto">
          <a:xfrm>
            <a:off x="0" y="137319"/>
            <a:ext cx="121920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1B57B5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r>
              <a:rPr lang="en-US" sz="2800" kern="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Zenith Hackathon 5.0</a:t>
            </a:r>
            <a:endParaRPr lang="en-IN" sz="2800" kern="0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7E25-4500-BEF5-C522-ED26DAE92524}"/>
              </a:ext>
            </a:extLst>
          </p:cNvPr>
          <p:cNvSpPr txBox="1"/>
          <p:nvPr/>
        </p:nvSpPr>
        <p:spPr>
          <a:xfrm>
            <a:off x="3240832" y="3201221"/>
            <a:ext cx="57538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	: TECH CRUSADERS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	: Nithilan 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Muskan Kumari V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Charumadhi M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	: Information Technology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DB2A0-757B-8EC3-D54F-5186D70AC4F0}"/>
              </a:ext>
            </a:extLst>
          </p:cNvPr>
          <p:cNvSpPr txBox="1"/>
          <p:nvPr/>
        </p:nvSpPr>
        <p:spPr>
          <a:xfrm>
            <a:off x="609600" y="1894218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solidFill>
                  <a:srgbClr val="36519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AltScore</a:t>
            </a:r>
            <a:endParaRPr lang="en-US" sz="3000" b="1" dirty="0">
              <a:solidFill>
                <a:srgbClr val="365199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i="1" dirty="0">
                <a:solidFill>
                  <a:srgbClr val="36519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Making </a:t>
            </a:r>
            <a:r>
              <a:rPr lang="en-IN" sz="2000" i="1" dirty="0">
                <a:solidFill>
                  <a:srgbClr val="365199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en-IN" sz="2000" i="1" dirty="0">
                <a:solidFill>
                  <a:srgbClr val="365199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redit Access Fair for everyone</a:t>
            </a:r>
          </a:p>
        </p:txBody>
      </p:sp>
    </p:spTree>
    <p:extLst>
      <p:ext uri="{BB962C8B-B14F-4D97-AF65-F5344CB8AC3E}">
        <p14:creationId xmlns:p14="http://schemas.microsoft.com/office/powerpoint/2010/main" val="2394261345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4854-B61E-921D-4935-42AB502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Problem Statement – “</a:t>
            </a:r>
            <a:r>
              <a:rPr lang="en-US" sz="2500" i="1" dirty="0"/>
              <a:t>Why Traditional Credit Scoring Fails Millions”</a:t>
            </a:r>
            <a:endParaRPr lang="en-IN" sz="25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3FFCA-32A2-3124-19E5-AECC86E0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you're 25 years old. You've been responsibly paying your rent, utilities, and phone bills for years. You've never missed a payment. But when you walk into a bank for a small loan, they say no.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 Because you have no “credit history”.</a:t>
            </a:r>
          </a:p>
          <a:p>
            <a:pPr marL="0" indent="0" algn="ctr">
              <a:buNone/>
            </a:pPr>
            <a:r>
              <a:rPr 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affects 1.7 billion people globally.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system looks for: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loans (which you don't have)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cards (which you couldn't get without credit history)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Collateral (which young people rarely have)</a:t>
            </a: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a credit scoring system that uses </a:t>
            </a:r>
            <a:r>
              <a:rPr 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Your transaction history (how you spend money)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Your utility bill payments (do you pay on time?)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Social indicators (where you live, your community)</a:t>
            </a:r>
          </a:p>
        </p:txBody>
      </p:sp>
    </p:spTree>
    <p:extLst>
      <p:ext uri="{BB962C8B-B14F-4D97-AF65-F5344CB8AC3E}">
        <p14:creationId xmlns:p14="http://schemas.microsoft.com/office/powerpoint/2010/main" val="1377160055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9DEC-2264-B595-B01F-C10B0191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dirty="0"/>
              <a:t>Our Solution + The Data – “</a:t>
            </a:r>
            <a:r>
              <a:rPr lang="en-US" sz="2500" i="1" dirty="0"/>
              <a:t>How We're Doing It (and What Data We Have)”</a:t>
            </a:r>
            <a:endParaRPr lang="en-IN" sz="25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EF0DB-371D-821E-325C-76EA3177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0142"/>
            <a:ext cx="5486400" cy="243839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asking "Do you have credit history?“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ask: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you pay your bills on time?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you consistent with payments?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What's your life context - age, education, where you live?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C35B0F-D957-197F-BA46-5A4B215BB929}"/>
              </a:ext>
            </a:extLst>
          </p:cNvPr>
          <p:cNvSpPr txBox="1">
            <a:spLocks/>
          </p:cNvSpPr>
          <p:nvPr/>
        </p:nvSpPr>
        <p:spPr bwMode="auto">
          <a:xfrm>
            <a:off x="6096000" y="1100142"/>
            <a:ext cx="5486400" cy="243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1B57B5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That Makes This Possible: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data: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307,511 real loan applications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outcomes (who repaid, who defaulted)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know exactly what happened - perfect for machine learning</a:t>
            </a:r>
            <a:endParaRPr lang="en-IN" sz="18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F9A2D4D-9392-6CF5-4029-50B5E3A4D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548237"/>
              </p:ext>
            </p:extLst>
          </p:nvPr>
        </p:nvGraphicFramePr>
        <p:xfrm>
          <a:off x="609600" y="3141184"/>
          <a:ext cx="12192000" cy="2743200"/>
        </p:xfrm>
        <a:graphic>
          <a:graphicData uri="http://schemas.openxmlformats.org/drawingml/2006/table">
            <a:tbl>
              <a:tblPr/>
              <a:tblGrid>
                <a:gridCol w="4064000">
                  <a:extLst>
                    <a:ext uri="{9D8B030D-6E8A-4147-A177-3AD203B41FA5}">
                      <a16:colId xmlns:a16="http://schemas.microsoft.com/office/drawing/2014/main" val="40494927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842776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4351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We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Shows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3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POS/Cash Payments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payment behavior (like utility bills)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 million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45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Installment History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do people actually pay? Early? Late?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14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Bureau Records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relationships with other banks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67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Previous Applications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 loan attempt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01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Card Behavior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they use credit when they have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9677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44FF976-30D7-0504-5727-DF3BAC60C28E}"/>
              </a:ext>
            </a:extLst>
          </p:cNvPr>
          <p:cNvSpPr txBox="1"/>
          <p:nvPr/>
        </p:nvSpPr>
        <p:spPr>
          <a:xfrm>
            <a:off x="2892028" y="5884384"/>
            <a:ext cx="6407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Total: 58.4 million data points</a:t>
            </a:r>
            <a:r>
              <a:rPr lang="en-US" dirty="0"/>
              <a:t> to learn from!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930629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A15A-3F43-4137-F64B-C5B731A0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done - EDA</a:t>
            </a:r>
            <a:endParaRPr lang="en-IN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8711394-B5A9-DD97-E612-72E7C598D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1094013"/>
              </p:ext>
            </p:extLst>
          </p:nvPr>
        </p:nvGraphicFramePr>
        <p:xfrm>
          <a:off x="609600" y="1066800"/>
          <a:ext cx="10972799" cy="4942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1723586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19C8-7D9D-3C95-BC0D-FB829696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1 – Alternative Data Works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4D805-878B-163C-9030-1456B8B52156}"/>
              </a:ext>
            </a:extLst>
          </p:cNvPr>
          <p:cNvSpPr txBox="1"/>
          <p:nvPr/>
        </p:nvSpPr>
        <p:spPr>
          <a:xfrm>
            <a:off x="232229" y="1208091"/>
            <a:ext cx="11959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split all 307,511 applications into groups based on what alternative data was available: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E1F002-37C9-AB63-1753-2BA47EB74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17178"/>
              </p:ext>
            </p:extLst>
          </p:nvPr>
        </p:nvGraphicFramePr>
        <p:xfrm>
          <a:off x="609600" y="1718714"/>
          <a:ext cx="109728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57882734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3399377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198647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58477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512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alternative data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2,470 (0.8%)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7.25%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2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bureau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13,984 (4.6%)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5.72%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21% LOWER!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92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previous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41,550 (13.5%)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 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7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249,507 (81.1%)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🟡 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8174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753065-3BCA-666B-15B6-B317D4EEFE55}"/>
              </a:ext>
            </a:extLst>
          </p:cNvPr>
          <p:cNvSpPr txBox="1"/>
          <p:nvPr/>
        </p:nvSpPr>
        <p:spPr>
          <a:xfrm>
            <a:off x="290285" y="3547514"/>
            <a:ext cx="118436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Tells Us: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data reduces default risk by 21%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(from 7.25% to 5.72%)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matters more than quantity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bureau data alone is better than just previous apps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is validated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alternative data sources DO predict creditworthiness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Case: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banks reject those 2,470 people with no data (0.8% of population)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 will serve them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different signals - payment behavior, geographic context, life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help the underbanked while maintaining good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523049676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8BAA5E6-17D7-7128-F4BD-7F951AC2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/>
              <a:t>Inference 1 – Alternative Data Works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0D5FBD-687C-AECA-BFB3-09B606AC6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066800"/>
            <a:ext cx="10972800" cy="54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79889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B71-F20F-94FD-8B4C-ECE2240C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2 – Payment Behavior is Primary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828C2-C747-E2E3-771E-11D041D82A63}"/>
              </a:ext>
            </a:extLst>
          </p:cNvPr>
          <p:cNvSpPr txBox="1"/>
          <p:nvPr/>
        </p:nvSpPr>
        <p:spPr>
          <a:xfrm>
            <a:off x="304800" y="1037132"/>
            <a:ext cx="114577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The 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couldn’t get utility payment data – so we asked a smarter question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“Can everyday payment behavior tell the same story?”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What we Did: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analyzed over 10 million POS and cash balance transactions to understand real payment behavior.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FA1243-AD9D-79A2-48EC-92C963A9A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15841"/>
              </p:ext>
            </p:extLst>
          </p:nvPr>
        </p:nvGraphicFramePr>
        <p:xfrm>
          <a:off x="609596" y="2438038"/>
          <a:ext cx="3991429" cy="1828800"/>
        </p:xfrm>
        <a:graphic>
          <a:graphicData uri="http://schemas.openxmlformats.org/drawingml/2006/table">
            <a:tbl>
              <a:tblPr/>
              <a:tblGrid>
                <a:gridCol w="3991429">
                  <a:extLst>
                    <a:ext uri="{9D8B030D-6E8A-4147-A177-3AD203B41FA5}">
                      <a16:colId xmlns:a16="http://schemas.microsoft.com/office/drawing/2014/main" val="1579026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Utility Bills Show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320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payment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75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timing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69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discipline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042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013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905EFCA-8E00-199A-6CBE-B63512620D83}"/>
              </a:ext>
            </a:extLst>
          </p:cNvPr>
          <p:cNvSpPr txBox="1"/>
          <p:nvPr/>
        </p:nvSpPr>
        <p:spPr>
          <a:xfrm>
            <a:off x="609598" y="4102183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discovered: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FE2A8-60CB-71B9-7269-C39CCCE5E29E}"/>
              </a:ext>
            </a:extLst>
          </p:cNvPr>
          <p:cNvSpPr txBox="1"/>
          <p:nvPr/>
        </p:nvSpPr>
        <p:spPr>
          <a:xfrm>
            <a:off x="1728188" y="4400773"/>
            <a:ext cx="6103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68.4% of people pay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23.1% pay 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8.4% pay late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813C2-497D-423A-36FD-90B5699556A2}"/>
              </a:ext>
            </a:extLst>
          </p:cNvPr>
          <p:cNvSpPr txBox="1"/>
          <p:nvPr/>
        </p:nvSpPr>
        <p:spPr>
          <a:xfrm>
            <a:off x="676249" y="5301941"/>
            <a:ext cx="8379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Most people already show financial discipline through everyday payments.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payment behavior can predict creditworthiness — even without traditional credit history.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DB09BF-DDD3-67A6-9D80-830B2762C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531650"/>
              </p:ext>
            </p:extLst>
          </p:nvPr>
        </p:nvGraphicFramePr>
        <p:xfrm>
          <a:off x="7590973" y="2422800"/>
          <a:ext cx="3991429" cy="1828800"/>
        </p:xfrm>
        <a:graphic>
          <a:graphicData uri="http://schemas.openxmlformats.org/drawingml/2006/table">
            <a:tbl>
              <a:tblPr/>
              <a:tblGrid>
                <a:gridCol w="3991429">
                  <a:extLst>
                    <a:ext uri="{9D8B030D-6E8A-4147-A177-3AD203B41FA5}">
                      <a16:colId xmlns:a16="http://schemas.microsoft.com/office/drawing/2014/main" val="2632789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POS/Cash Shows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6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Recurring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97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Tracked month-by-month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35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4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22064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E103379-4FC4-FA4B-E723-21E00557A772}"/>
              </a:ext>
            </a:extLst>
          </p:cNvPr>
          <p:cNvSpPr/>
          <p:nvPr/>
        </p:nvSpPr>
        <p:spPr>
          <a:xfrm>
            <a:off x="609598" y="2411883"/>
            <a:ext cx="4170218" cy="1544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94C2E-4136-2AE5-ED23-795BFF67795F}"/>
              </a:ext>
            </a:extLst>
          </p:cNvPr>
          <p:cNvSpPr/>
          <p:nvPr/>
        </p:nvSpPr>
        <p:spPr>
          <a:xfrm>
            <a:off x="7528560" y="2411883"/>
            <a:ext cx="4053840" cy="1544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194DE4C-8B40-10DE-8341-12C40813A767}"/>
              </a:ext>
            </a:extLst>
          </p:cNvPr>
          <p:cNvSpPr/>
          <p:nvPr/>
        </p:nvSpPr>
        <p:spPr>
          <a:xfrm>
            <a:off x="5295207" y="2876204"/>
            <a:ext cx="1837113" cy="61514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689056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C1D1A6-C03A-A88B-3AC2-16F687998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8957" y="1066800"/>
            <a:ext cx="7874085" cy="5305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A17112-C96B-74CC-CA5B-7825EF12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/>
              <a:t>Inference 2 – Payment Behavior is Primary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076946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572F-36E5-1F3B-DCDE-59C771E3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3 – Top Predictors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1064B-0CE6-D180-610D-8184F1028E1F}"/>
              </a:ext>
            </a:extLst>
          </p:cNvPr>
          <p:cNvSpPr txBox="1"/>
          <p:nvPr/>
        </p:nvSpPr>
        <p:spPr>
          <a:xfrm>
            <a:off x="609600" y="1066800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Rankings (What Correlates Most with Default):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62B761-8F5A-3586-888F-9EBBD0B47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038742"/>
              </p:ext>
            </p:extLst>
          </p:nvPr>
        </p:nvGraphicFramePr>
        <p:xfrm>
          <a:off x="609600" y="1436132"/>
          <a:ext cx="10972800" cy="2805024"/>
        </p:xfrm>
        <a:graphic>
          <a:graphicData uri="http://schemas.openxmlformats.org/drawingml/2006/table">
            <a:tbl>
              <a:tblPr/>
              <a:tblGrid>
                <a:gridCol w="1924594">
                  <a:extLst>
                    <a:ext uri="{9D8B030D-6E8A-4147-A177-3AD203B41FA5}">
                      <a16:colId xmlns:a16="http://schemas.microsoft.com/office/drawing/2014/main" val="904901952"/>
                    </a:ext>
                  </a:extLst>
                </a:gridCol>
                <a:gridCol w="3561806">
                  <a:extLst>
                    <a:ext uri="{9D8B030D-6E8A-4147-A177-3AD203B41FA5}">
                      <a16:colId xmlns:a16="http://schemas.microsoft.com/office/drawing/2014/main" val="154718082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9865173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18015553"/>
                    </a:ext>
                  </a:extLst>
                </a:gridCol>
              </a:tblGrid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Is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341956"/>
                  </a:ext>
                </a:extLst>
              </a:tr>
              <a:tr h="31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EXT_SOURCE_3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0.179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credit score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308442"/>
                  </a:ext>
                </a:extLst>
              </a:tr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EXT_SOURCE_2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0.160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credit score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027319"/>
                  </a:ext>
                </a:extLst>
              </a:tr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EXT_SOURCE_1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credit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647141"/>
                  </a:ext>
                </a:extLst>
              </a:tr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AGE_YEARS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Demographic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575634"/>
                  </a:ext>
                </a:extLst>
              </a:tr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CREDIT_GOODS_RATIO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386018"/>
                  </a:ext>
                </a:extLst>
              </a:tr>
              <a:tr h="26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REGION_RATING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493521"/>
                  </a:ext>
                </a:extLst>
              </a:tr>
              <a:tr h="458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DAYS_LAST_PHONE_CHANGE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6896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3D1E4E-AA0D-B908-8A48-2BFEFB342B2F}"/>
              </a:ext>
            </a:extLst>
          </p:cNvPr>
          <p:cNvSpPr txBox="1"/>
          <p:nvPr/>
        </p:nvSpPr>
        <p:spPr>
          <a:xfrm>
            <a:off x="518581" y="4333356"/>
            <a:ext cx="11464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data shows: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Reliable borrowers typically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EXT_SOURCE scores (0.5–0.7)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Defaulters cluster 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score ranges (0.2–0.4)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E8F594-9064-060F-E513-A1BA8E59D516}"/>
              </a:ext>
            </a:extLst>
          </p:cNvPr>
          <p:cNvSpPr/>
          <p:nvPr/>
        </p:nvSpPr>
        <p:spPr>
          <a:xfrm>
            <a:off x="609600" y="1436132"/>
            <a:ext cx="10972800" cy="28050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B2FD8C-F484-E974-E70B-90BB2432FBA9}"/>
              </a:ext>
            </a:extLst>
          </p:cNvPr>
          <p:cNvCxnSpPr/>
          <p:nvPr/>
        </p:nvCxnSpPr>
        <p:spPr>
          <a:xfrm>
            <a:off x="609600" y="1759131"/>
            <a:ext cx="1097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D1CBA0-CF43-41D1-7E8F-C96F1E226341}"/>
              </a:ext>
            </a:extLst>
          </p:cNvPr>
          <p:cNvCxnSpPr/>
          <p:nvPr/>
        </p:nvCxnSpPr>
        <p:spPr>
          <a:xfrm>
            <a:off x="1863634" y="1436132"/>
            <a:ext cx="0" cy="2805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344E94-C5B4-113E-E2E7-193F0F789131}"/>
              </a:ext>
            </a:extLst>
          </p:cNvPr>
          <p:cNvCxnSpPr/>
          <p:nvPr/>
        </p:nvCxnSpPr>
        <p:spPr>
          <a:xfrm>
            <a:off x="8190411" y="1436132"/>
            <a:ext cx="0" cy="2805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C7245A-D3F8-0F9B-780B-AE96D1D9E425}"/>
              </a:ext>
            </a:extLst>
          </p:cNvPr>
          <p:cNvCxnSpPr/>
          <p:nvPr/>
        </p:nvCxnSpPr>
        <p:spPr>
          <a:xfrm>
            <a:off x="5704114" y="1436132"/>
            <a:ext cx="0" cy="2805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0AE399-C8CD-566B-F242-FC3180060B84}"/>
              </a:ext>
            </a:extLst>
          </p:cNvPr>
          <p:cNvSpPr txBox="1"/>
          <p:nvPr/>
        </p:nvSpPr>
        <p:spPr>
          <a:xfrm>
            <a:off x="518581" y="5256686"/>
            <a:ext cx="10101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Strategy: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Instead of relying on one score, we combine many signals using machine learning to create a more accurate and fair credit assessment.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953397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CFABF5-2D33-4BCF-20AE-70749739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/>
              <a:t>Inference 3 – Top Predictors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29037D-A47F-E7CB-8CB1-7DFD94845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244"/>
            <a:ext cx="12192000" cy="536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79463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AF328A-127D-C114-3983-A9C13DF6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9F66D-83B3-CD02-6D87-24EFED5D5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2661"/>
            <a:ext cx="12192000" cy="471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56974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0AC4-27B0-6273-89F8-FDF5C9F9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9430B-0AE3-C2EB-DC33-640565F2BCFA}"/>
              </a:ext>
            </a:extLst>
          </p:cNvPr>
          <p:cNvSpPr txBox="1"/>
          <p:nvPr/>
        </p:nvSpPr>
        <p:spPr>
          <a:xfrm>
            <a:off x="609600" y="1443841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We've Shown You Today: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1.7B people excluded from financial services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Alternative credit scoring using payment behavior, social data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307K applications + 57M alternative data records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Alternative data reduces default risk by 21%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Innovation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10M payment records as utility proxy (68% pay early!)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4-phase approach to deployed model in 4 weeks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Statistics: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8.07%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default rate (manageable)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reduction with alternative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68.4%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payment rate (strong discipline)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correlation (external alternative scores)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&gt; 0.75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for next week</a:t>
            </a:r>
          </a:p>
        </p:txBody>
      </p:sp>
    </p:spTree>
    <p:extLst>
      <p:ext uri="{BB962C8B-B14F-4D97-AF65-F5344CB8AC3E}">
        <p14:creationId xmlns:p14="http://schemas.microsoft.com/office/powerpoint/2010/main" val="4252870761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E8CE935-F3DA-4639-839D-0F6A64CCE9C9}" vid="{A99DBA6F-CE1E-45EC-8558-A285390E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</TotalTime>
  <Words>1068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Comic Sans MS</vt:lpstr>
      <vt:lpstr>Times New Roman</vt:lpstr>
      <vt:lpstr>Wingdings</vt:lpstr>
      <vt:lpstr>ssn</vt:lpstr>
      <vt:lpstr>PowerPoint Presentation</vt:lpstr>
      <vt:lpstr>Problem Statement – “Why Traditional Credit Scoring Fails Millions”</vt:lpstr>
      <vt:lpstr>Our Solution + The Data – “How We're Doing It (and What Data We Have)”</vt:lpstr>
      <vt:lpstr>What we’ve done - EDA</vt:lpstr>
      <vt:lpstr>Inference 1 – Alternative Data Works</vt:lpstr>
      <vt:lpstr>Inference 1 – Alternative Data Works</vt:lpstr>
      <vt:lpstr>Inference 2 – Payment Behavior is Primary</vt:lpstr>
      <vt:lpstr>Inference 2 – Payment Behavior is Primary</vt:lpstr>
      <vt:lpstr>Inference 3 – Top Predictors</vt:lpstr>
      <vt:lpstr>Inference 3 – Top Predictors</vt:lpstr>
      <vt:lpstr>Methodology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K.S.Gayathri</dc:creator>
  <cp:lastModifiedBy>MUSKAN KUMARI</cp:lastModifiedBy>
  <cp:revision>143</cp:revision>
  <dcterms:created xsi:type="dcterms:W3CDTF">2023-04-06T06:48:43Z</dcterms:created>
  <dcterms:modified xsi:type="dcterms:W3CDTF">2026-02-16T19:06:48Z</dcterms:modified>
</cp:coreProperties>
</file>